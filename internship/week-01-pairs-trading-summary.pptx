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4" r:id="rId4"/>
    <p:sldId id="258" r:id="rId5"/>
    <p:sldId id="266" r:id="rId6"/>
    <p:sldId id="259" r:id="rId7"/>
    <p:sldId id="267" r:id="rId8"/>
    <p:sldId id="262" r:id="rId9"/>
    <p:sldId id="263" r:id="rId10"/>
    <p:sldId id="268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C5AD52-3092-4D6A-BC23-6A5DE6A9364D}" v="40" dt="2026-01-08T18:20:35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636" autoAdjust="0"/>
  </p:normalViewPr>
  <p:slideViewPr>
    <p:cSldViewPr snapToGrid="0" snapToObjects="1">
      <p:cViewPr varScale="1">
        <p:scale>
          <a:sx n="82" d="100"/>
          <a:sy n="82" d="100"/>
        </p:scale>
        <p:origin x="144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9ACE62-7148-4072-99FC-3A8D8FD2DEAF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23B9CF8-5B8F-4C34-A579-0245D5891B91}">
      <dgm:prSet/>
      <dgm:spPr/>
      <dgm:t>
        <a:bodyPr/>
        <a:lstStyle/>
        <a:p>
          <a:r>
            <a:rPr lang="en-GB"/>
            <a:t>Approach </a:t>
          </a:r>
          <a:endParaRPr lang="en-US"/>
        </a:p>
      </dgm:t>
    </dgm:pt>
    <dgm:pt modelId="{735EA537-DE72-4A89-8D14-C7053B5A7340}" type="parTrans" cxnId="{7AF1DEC2-F5A0-4D58-B282-B47CCC62CEAA}">
      <dgm:prSet/>
      <dgm:spPr/>
      <dgm:t>
        <a:bodyPr/>
        <a:lstStyle/>
        <a:p>
          <a:endParaRPr lang="en-US"/>
        </a:p>
      </dgm:t>
    </dgm:pt>
    <dgm:pt modelId="{E8F76C9F-2C37-478E-AAB8-3F6AD607B7FD}" type="sibTrans" cxnId="{7AF1DEC2-F5A0-4D58-B282-B47CCC62CEAA}">
      <dgm:prSet/>
      <dgm:spPr/>
      <dgm:t>
        <a:bodyPr/>
        <a:lstStyle/>
        <a:p>
          <a:endParaRPr lang="en-US"/>
        </a:p>
      </dgm:t>
    </dgm:pt>
    <dgm:pt modelId="{54E1B23D-191D-44C1-B84B-4671ADB7255E}">
      <dgm:prSet/>
      <dgm:spPr/>
      <dgm:t>
        <a:bodyPr/>
        <a:lstStyle/>
        <a:p>
          <a:r>
            <a:rPr lang="en-GB"/>
            <a:t>Highly correlated stocks tend to revert to group mean</a:t>
          </a:r>
          <a:endParaRPr lang="en-US"/>
        </a:p>
      </dgm:t>
    </dgm:pt>
    <dgm:pt modelId="{F5752B92-93AF-491D-BF78-20874F241ABD}" type="parTrans" cxnId="{060C22E2-4A17-4CCC-9C5E-A8C37E7FD2A8}">
      <dgm:prSet/>
      <dgm:spPr/>
      <dgm:t>
        <a:bodyPr/>
        <a:lstStyle/>
        <a:p>
          <a:endParaRPr lang="en-US"/>
        </a:p>
      </dgm:t>
    </dgm:pt>
    <dgm:pt modelId="{01A04A16-4A1B-47DC-BC15-2119F8C7B2A5}" type="sibTrans" cxnId="{060C22E2-4A17-4CCC-9C5E-A8C37E7FD2A8}">
      <dgm:prSet/>
      <dgm:spPr/>
      <dgm:t>
        <a:bodyPr/>
        <a:lstStyle/>
        <a:p>
          <a:endParaRPr lang="en-US"/>
        </a:p>
      </dgm:t>
    </dgm:pt>
    <dgm:pt modelId="{7CDC3517-85EC-429C-9184-6E18D1493111}">
      <dgm:prSet/>
      <dgm:spPr/>
      <dgm:t>
        <a:bodyPr/>
        <a:lstStyle/>
        <a:p>
          <a:r>
            <a:rPr lang="en-GB"/>
            <a:t>Temporary deviations create trading opportunities</a:t>
          </a:r>
          <a:endParaRPr lang="en-US"/>
        </a:p>
      </dgm:t>
    </dgm:pt>
    <dgm:pt modelId="{9AC99CD2-5ED6-4388-993A-C10F36B14AB8}" type="parTrans" cxnId="{811A3A3F-716E-4C7A-86DC-0B506B041673}">
      <dgm:prSet/>
      <dgm:spPr/>
      <dgm:t>
        <a:bodyPr/>
        <a:lstStyle/>
        <a:p>
          <a:endParaRPr lang="en-US"/>
        </a:p>
      </dgm:t>
    </dgm:pt>
    <dgm:pt modelId="{DE56CFE8-40D6-465D-BC39-DE9D5A1BED17}" type="sibTrans" cxnId="{811A3A3F-716E-4C7A-86DC-0B506B041673}">
      <dgm:prSet/>
      <dgm:spPr/>
      <dgm:t>
        <a:bodyPr/>
        <a:lstStyle/>
        <a:p>
          <a:endParaRPr lang="en-US"/>
        </a:p>
      </dgm:t>
    </dgm:pt>
    <dgm:pt modelId="{47415084-8404-4FBC-ACCF-A0EC94FE5432}">
      <dgm:prSet/>
      <dgm:spPr/>
      <dgm:t>
        <a:bodyPr/>
        <a:lstStyle/>
        <a:p>
          <a:r>
            <a:rPr lang="en-GB"/>
            <a:t>Trade relative value instead of market direction</a:t>
          </a:r>
          <a:endParaRPr lang="en-US"/>
        </a:p>
      </dgm:t>
    </dgm:pt>
    <dgm:pt modelId="{A9867D89-D754-4A00-9CBB-B4FFC73DA053}" type="parTrans" cxnId="{BDE546AA-48FC-41CF-A561-C16F40FDBDA3}">
      <dgm:prSet/>
      <dgm:spPr/>
      <dgm:t>
        <a:bodyPr/>
        <a:lstStyle/>
        <a:p>
          <a:endParaRPr lang="en-US"/>
        </a:p>
      </dgm:t>
    </dgm:pt>
    <dgm:pt modelId="{242651F3-8D45-4FF0-8872-8E9AF6A409AC}" type="sibTrans" cxnId="{BDE546AA-48FC-41CF-A561-C16F40FDBDA3}">
      <dgm:prSet/>
      <dgm:spPr/>
      <dgm:t>
        <a:bodyPr/>
        <a:lstStyle/>
        <a:p>
          <a:endParaRPr lang="en-US"/>
        </a:p>
      </dgm:t>
    </dgm:pt>
    <dgm:pt modelId="{50AACBA7-9BFF-4CCE-B252-037A71D6332D}">
      <dgm:prSet/>
      <dgm:spPr/>
      <dgm:t>
        <a:bodyPr/>
        <a:lstStyle/>
        <a:p>
          <a:r>
            <a:rPr lang="en-GB"/>
            <a:t>Market-neutral by construction</a:t>
          </a:r>
          <a:endParaRPr lang="en-US"/>
        </a:p>
      </dgm:t>
    </dgm:pt>
    <dgm:pt modelId="{A8C7E68B-666C-4A04-BF22-8C74C315542D}" type="parTrans" cxnId="{1F94EE4D-5B8B-45FD-88FA-A90924BBE2C3}">
      <dgm:prSet/>
      <dgm:spPr/>
      <dgm:t>
        <a:bodyPr/>
        <a:lstStyle/>
        <a:p>
          <a:endParaRPr lang="en-US"/>
        </a:p>
      </dgm:t>
    </dgm:pt>
    <dgm:pt modelId="{BB8BD5F6-3CA7-44F2-B014-1F68671F4CB9}" type="sibTrans" cxnId="{1F94EE4D-5B8B-45FD-88FA-A90924BBE2C3}">
      <dgm:prSet/>
      <dgm:spPr/>
      <dgm:t>
        <a:bodyPr/>
        <a:lstStyle/>
        <a:p>
          <a:endParaRPr lang="en-US"/>
        </a:p>
      </dgm:t>
    </dgm:pt>
    <dgm:pt modelId="{6F6338AB-A74E-4794-B5A2-36EAD1DC88FD}">
      <dgm:prSet/>
      <dgm:spPr/>
      <dgm:t>
        <a:bodyPr/>
        <a:lstStyle/>
        <a:p>
          <a:r>
            <a:rPr lang="en-GB"/>
            <a:t>Assumptions</a:t>
          </a:r>
          <a:endParaRPr lang="en-US"/>
        </a:p>
      </dgm:t>
    </dgm:pt>
    <dgm:pt modelId="{8F174721-3C27-4AA6-BAAB-2BA084158923}" type="parTrans" cxnId="{D57E07F1-2C16-4783-958A-05A0AFBE1012}">
      <dgm:prSet/>
      <dgm:spPr/>
      <dgm:t>
        <a:bodyPr/>
        <a:lstStyle/>
        <a:p>
          <a:endParaRPr lang="en-US"/>
        </a:p>
      </dgm:t>
    </dgm:pt>
    <dgm:pt modelId="{FF0FBD75-1F4A-483F-B9C4-745CBD6EC5E8}" type="sibTrans" cxnId="{D57E07F1-2C16-4783-958A-05A0AFBE1012}">
      <dgm:prSet/>
      <dgm:spPr/>
      <dgm:t>
        <a:bodyPr/>
        <a:lstStyle/>
        <a:p>
          <a:endParaRPr lang="en-US"/>
        </a:p>
      </dgm:t>
    </dgm:pt>
    <dgm:pt modelId="{C2FC80D7-5378-4993-AFB5-2F7C6065896F}">
      <dgm:prSet/>
      <dgm:spPr/>
      <dgm:t>
        <a:bodyPr/>
        <a:lstStyle/>
        <a:p>
          <a:r>
            <a:rPr lang="en-GB"/>
            <a:t>Stocks within a cluster are assumed to maintain similar behavior over time, so historical correlations remain valid.</a:t>
          </a:r>
          <a:endParaRPr lang="en-US"/>
        </a:p>
      </dgm:t>
    </dgm:pt>
    <dgm:pt modelId="{CA68B612-C54E-454C-9CD4-E65A48F4CED9}" type="parTrans" cxnId="{6C2E2558-4228-48C5-8B23-5FA39F6B72D7}">
      <dgm:prSet/>
      <dgm:spPr/>
      <dgm:t>
        <a:bodyPr/>
        <a:lstStyle/>
        <a:p>
          <a:endParaRPr lang="en-US"/>
        </a:p>
      </dgm:t>
    </dgm:pt>
    <dgm:pt modelId="{A4F16900-9F0F-40F9-9CEF-D5502AA72603}" type="sibTrans" cxnId="{6C2E2558-4228-48C5-8B23-5FA39F6B72D7}">
      <dgm:prSet/>
      <dgm:spPr/>
      <dgm:t>
        <a:bodyPr/>
        <a:lstStyle/>
        <a:p>
          <a:endParaRPr lang="en-US"/>
        </a:p>
      </dgm:t>
    </dgm:pt>
    <dgm:pt modelId="{B3196DC0-86D6-400F-9354-B1730DD53030}">
      <dgm:prSet/>
      <dgm:spPr/>
      <dgm:t>
        <a:bodyPr/>
        <a:lstStyle/>
        <a:p>
          <a:r>
            <a:rPr lang="en-GB"/>
            <a:t>Deviations of a stock from its cluster mean are temporary and expected to revert toward zero.</a:t>
          </a:r>
          <a:endParaRPr lang="en-US"/>
        </a:p>
      </dgm:t>
    </dgm:pt>
    <dgm:pt modelId="{8AEFA50C-B632-4099-960B-D8B60E052576}" type="parTrans" cxnId="{B044CC71-2F60-4D74-99A3-4D810CEFC07C}">
      <dgm:prSet/>
      <dgm:spPr/>
      <dgm:t>
        <a:bodyPr/>
        <a:lstStyle/>
        <a:p>
          <a:endParaRPr lang="en-US"/>
        </a:p>
      </dgm:t>
    </dgm:pt>
    <dgm:pt modelId="{4E2BDB7E-6A2E-40EB-B906-B5BF85312CE8}" type="sibTrans" cxnId="{B044CC71-2F60-4D74-99A3-4D810CEFC07C}">
      <dgm:prSet/>
      <dgm:spPr/>
      <dgm:t>
        <a:bodyPr/>
        <a:lstStyle/>
        <a:p>
          <a:endParaRPr lang="en-US"/>
        </a:p>
      </dgm:t>
    </dgm:pt>
    <dgm:pt modelId="{799E480E-F9C4-44F5-B9F1-4508E424D6E3}">
      <dgm:prSet/>
      <dgm:spPr/>
      <dgm:t>
        <a:bodyPr/>
        <a:lstStyle/>
        <a:p>
          <a:r>
            <a:rPr lang="en-GB"/>
            <a:t>Liquidity and Tradability: All stocks can be traded daily with minimal slippage and transaction costs.</a:t>
          </a:r>
          <a:endParaRPr lang="en-US"/>
        </a:p>
      </dgm:t>
    </dgm:pt>
    <dgm:pt modelId="{FA63C926-506F-43B5-9796-BFDB9B374FCC}" type="parTrans" cxnId="{0C4A5C89-07A5-492A-B4C6-37B1172869EB}">
      <dgm:prSet/>
      <dgm:spPr/>
      <dgm:t>
        <a:bodyPr/>
        <a:lstStyle/>
        <a:p>
          <a:endParaRPr lang="en-US"/>
        </a:p>
      </dgm:t>
    </dgm:pt>
    <dgm:pt modelId="{FA075DE3-D40F-4C48-A0B3-EE371FA84788}" type="sibTrans" cxnId="{0C4A5C89-07A5-492A-B4C6-37B1172869EB}">
      <dgm:prSet/>
      <dgm:spPr/>
      <dgm:t>
        <a:bodyPr/>
        <a:lstStyle/>
        <a:p>
          <a:endParaRPr lang="en-US"/>
        </a:p>
      </dgm:t>
    </dgm:pt>
    <dgm:pt modelId="{8C02ACC3-A6FA-49A9-8CA9-47FF171A1899}" type="pres">
      <dgm:prSet presAssocID="{C49ACE62-7148-4072-99FC-3A8D8FD2DEAF}" presName="diagram" presStyleCnt="0">
        <dgm:presLayoutVars>
          <dgm:dir/>
          <dgm:resizeHandles val="exact"/>
        </dgm:presLayoutVars>
      </dgm:prSet>
      <dgm:spPr/>
    </dgm:pt>
    <dgm:pt modelId="{E1CE78A0-9005-484B-95F8-156E4F3DF610}" type="pres">
      <dgm:prSet presAssocID="{723B9CF8-5B8F-4C34-A579-0245D5891B91}" presName="node" presStyleLbl="node1" presStyleIdx="0" presStyleCnt="2">
        <dgm:presLayoutVars>
          <dgm:bulletEnabled val="1"/>
        </dgm:presLayoutVars>
      </dgm:prSet>
      <dgm:spPr/>
    </dgm:pt>
    <dgm:pt modelId="{6EA5BE67-21B5-4B4F-993E-19DEF31A35C6}" type="pres">
      <dgm:prSet presAssocID="{E8F76C9F-2C37-478E-AAB8-3F6AD607B7FD}" presName="sibTrans" presStyleCnt="0"/>
      <dgm:spPr/>
    </dgm:pt>
    <dgm:pt modelId="{74D47909-935C-411E-A2C7-C073750EE8AA}" type="pres">
      <dgm:prSet presAssocID="{6F6338AB-A74E-4794-B5A2-36EAD1DC88FD}" presName="node" presStyleLbl="node1" presStyleIdx="1" presStyleCnt="2">
        <dgm:presLayoutVars>
          <dgm:bulletEnabled val="1"/>
        </dgm:presLayoutVars>
      </dgm:prSet>
      <dgm:spPr/>
    </dgm:pt>
  </dgm:ptLst>
  <dgm:cxnLst>
    <dgm:cxn modelId="{3422B83C-8940-4D71-A8F9-1597A0037D41}" type="presOf" srcId="{7CDC3517-85EC-429C-9184-6E18D1493111}" destId="{E1CE78A0-9005-484B-95F8-156E4F3DF610}" srcOrd="0" destOrd="2" presId="urn:microsoft.com/office/officeart/2005/8/layout/default"/>
    <dgm:cxn modelId="{811A3A3F-716E-4C7A-86DC-0B506B041673}" srcId="{723B9CF8-5B8F-4C34-A579-0245D5891B91}" destId="{7CDC3517-85EC-429C-9184-6E18D1493111}" srcOrd="1" destOrd="0" parTransId="{9AC99CD2-5ED6-4388-993A-C10F36B14AB8}" sibTransId="{DE56CFE8-40D6-465D-BC39-DE9D5A1BED17}"/>
    <dgm:cxn modelId="{E26A1B43-F36C-43EF-86B6-91899250C494}" type="presOf" srcId="{6F6338AB-A74E-4794-B5A2-36EAD1DC88FD}" destId="{74D47909-935C-411E-A2C7-C073750EE8AA}" srcOrd="0" destOrd="0" presId="urn:microsoft.com/office/officeart/2005/8/layout/default"/>
    <dgm:cxn modelId="{2E8FDB68-2BD8-4EF8-BE9C-4A51E533BE91}" type="presOf" srcId="{C49ACE62-7148-4072-99FC-3A8D8FD2DEAF}" destId="{8C02ACC3-A6FA-49A9-8CA9-47FF171A1899}" srcOrd="0" destOrd="0" presId="urn:microsoft.com/office/officeart/2005/8/layout/default"/>
    <dgm:cxn modelId="{1F94EE4D-5B8B-45FD-88FA-A90924BBE2C3}" srcId="{723B9CF8-5B8F-4C34-A579-0245D5891B91}" destId="{50AACBA7-9BFF-4CCE-B252-037A71D6332D}" srcOrd="3" destOrd="0" parTransId="{A8C7E68B-666C-4A04-BF22-8C74C315542D}" sibTransId="{BB8BD5F6-3CA7-44F2-B014-1F68671F4CB9}"/>
    <dgm:cxn modelId="{20BC2C4F-0673-43AF-9114-6CDB70E7D5B6}" type="presOf" srcId="{723B9CF8-5B8F-4C34-A579-0245D5891B91}" destId="{E1CE78A0-9005-484B-95F8-156E4F3DF610}" srcOrd="0" destOrd="0" presId="urn:microsoft.com/office/officeart/2005/8/layout/default"/>
    <dgm:cxn modelId="{B044CC71-2F60-4D74-99A3-4D810CEFC07C}" srcId="{6F6338AB-A74E-4794-B5A2-36EAD1DC88FD}" destId="{B3196DC0-86D6-400F-9354-B1730DD53030}" srcOrd="1" destOrd="0" parTransId="{8AEFA50C-B632-4099-960B-D8B60E052576}" sibTransId="{4E2BDB7E-6A2E-40EB-B906-B5BF85312CE8}"/>
    <dgm:cxn modelId="{6C2E2558-4228-48C5-8B23-5FA39F6B72D7}" srcId="{6F6338AB-A74E-4794-B5A2-36EAD1DC88FD}" destId="{C2FC80D7-5378-4993-AFB5-2F7C6065896F}" srcOrd="0" destOrd="0" parTransId="{CA68B612-C54E-454C-9CD4-E65A48F4CED9}" sibTransId="{A4F16900-9F0F-40F9-9CEF-D5502AA72603}"/>
    <dgm:cxn modelId="{0C4A5C89-07A5-492A-B4C6-37B1172869EB}" srcId="{6F6338AB-A74E-4794-B5A2-36EAD1DC88FD}" destId="{799E480E-F9C4-44F5-B9F1-4508E424D6E3}" srcOrd="2" destOrd="0" parTransId="{FA63C926-506F-43B5-9796-BFDB9B374FCC}" sibTransId="{FA075DE3-D40F-4C48-A0B3-EE371FA84788}"/>
    <dgm:cxn modelId="{1DD7E7A0-9DDA-4701-A431-C1D499F225CB}" type="presOf" srcId="{47415084-8404-4FBC-ACCF-A0EC94FE5432}" destId="{E1CE78A0-9005-484B-95F8-156E4F3DF610}" srcOrd="0" destOrd="3" presId="urn:microsoft.com/office/officeart/2005/8/layout/default"/>
    <dgm:cxn modelId="{9DE86FA1-8C49-4AFD-B709-1E074EA2AE3D}" type="presOf" srcId="{54E1B23D-191D-44C1-B84B-4671ADB7255E}" destId="{E1CE78A0-9005-484B-95F8-156E4F3DF610}" srcOrd="0" destOrd="1" presId="urn:microsoft.com/office/officeart/2005/8/layout/default"/>
    <dgm:cxn modelId="{60C0FEA7-240E-41A8-B530-2C6F617E5B57}" type="presOf" srcId="{B3196DC0-86D6-400F-9354-B1730DD53030}" destId="{74D47909-935C-411E-A2C7-C073750EE8AA}" srcOrd="0" destOrd="2" presId="urn:microsoft.com/office/officeart/2005/8/layout/default"/>
    <dgm:cxn modelId="{FAD07DA9-9A85-46ED-B1BB-C9AF4742A928}" type="presOf" srcId="{50AACBA7-9BFF-4CCE-B252-037A71D6332D}" destId="{E1CE78A0-9005-484B-95F8-156E4F3DF610}" srcOrd="0" destOrd="4" presId="urn:microsoft.com/office/officeart/2005/8/layout/default"/>
    <dgm:cxn modelId="{BDE546AA-48FC-41CF-A561-C16F40FDBDA3}" srcId="{723B9CF8-5B8F-4C34-A579-0245D5891B91}" destId="{47415084-8404-4FBC-ACCF-A0EC94FE5432}" srcOrd="2" destOrd="0" parTransId="{A9867D89-D754-4A00-9CBB-B4FFC73DA053}" sibTransId="{242651F3-8D45-4FF0-8872-8E9AF6A409AC}"/>
    <dgm:cxn modelId="{894D6FAD-E918-465B-8C8F-42B5CAB3DF6D}" type="presOf" srcId="{799E480E-F9C4-44F5-B9F1-4508E424D6E3}" destId="{74D47909-935C-411E-A2C7-C073750EE8AA}" srcOrd="0" destOrd="3" presId="urn:microsoft.com/office/officeart/2005/8/layout/default"/>
    <dgm:cxn modelId="{7AF1DEC2-F5A0-4D58-B282-B47CCC62CEAA}" srcId="{C49ACE62-7148-4072-99FC-3A8D8FD2DEAF}" destId="{723B9CF8-5B8F-4C34-A579-0245D5891B91}" srcOrd="0" destOrd="0" parTransId="{735EA537-DE72-4A89-8D14-C7053B5A7340}" sibTransId="{E8F76C9F-2C37-478E-AAB8-3F6AD607B7FD}"/>
    <dgm:cxn modelId="{A30F88C8-7E70-4C07-9169-038E1771242E}" type="presOf" srcId="{C2FC80D7-5378-4993-AFB5-2F7C6065896F}" destId="{74D47909-935C-411E-A2C7-C073750EE8AA}" srcOrd="0" destOrd="1" presId="urn:microsoft.com/office/officeart/2005/8/layout/default"/>
    <dgm:cxn modelId="{060C22E2-4A17-4CCC-9C5E-A8C37E7FD2A8}" srcId="{723B9CF8-5B8F-4C34-A579-0245D5891B91}" destId="{54E1B23D-191D-44C1-B84B-4671ADB7255E}" srcOrd="0" destOrd="0" parTransId="{F5752B92-93AF-491D-BF78-20874F241ABD}" sibTransId="{01A04A16-4A1B-47DC-BC15-2119F8C7B2A5}"/>
    <dgm:cxn modelId="{D57E07F1-2C16-4783-958A-05A0AFBE1012}" srcId="{C49ACE62-7148-4072-99FC-3A8D8FD2DEAF}" destId="{6F6338AB-A74E-4794-B5A2-36EAD1DC88FD}" srcOrd="1" destOrd="0" parTransId="{8F174721-3C27-4AA6-BAAB-2BA084158923}" sibTransId="{FF0FBD75-1F4A-483F-B9C4-745CBD6EC5E8}"/>
    <dgm:cxn modelId="{69DCE01C-0733-4A6D-98BB-36F56BF6EF67}" type="presParOf" srcId="{8C02ACC3-A6FA-49A9-8CA9-47FF171A1899}" destId="{E1CE78A0-9005-484B-95F8-156E4F3DF610}" srcOrd="0" destOrd="0" presId="urn:microsoft.com/office/officeart/2005/8/layout/default"/>
    <dgm:cxn modelId="{CFE840E7-D156-4EF9-92C8-00C61A20227A}" type="presParOf" srcId="{8C02ACC3-A6FA-49A9-8CA9-47FF171A1899}" destId="{6EA5BE67-21B5-4B4F-993E-19DEF31A35C6}" srcOrd="1" destOrd="0" presId="urn:microsoft.com/office/officeart/2005/8/layout/default"/>
    <dgm:cxn modelId="{C7B53AFC-9DD0-41B8-8D71-08E241222AEB}" type="presParOf" srcId="{8C02ACC3-A6FA-49A9-8CA9-47FF171A1899}" destId="{74D47909-935C-411E-A2C7-C073750EE8AA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35574E-044D-42D7-A35D-280F5565FAE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783BF27-C1B9-4AFF-99BA-B43FCCC92CE7}">
      <dgm:prSet/>
      <dgm:spPr/>
      <dgm:t>
        <a:bodyPr/>
        <a:lstStyle/>
        <a:p>
          <a:r>
            <a:rPr lang="en-GB"/>
            <a:t>Positive PnL indicates successful mean-reversion capture</a:t>
          </a:r>
          <a:endParaRPr lang="en-US"/>
        </a:p>
      </dgm:t>
    </dgm:pt>
    <dgm:pt modelId="{D2E36796-E70E-4768-9C21-FE436BF56DD8}" type="parTrans" cxnId="{38B1E92D-DBF2-42E4-AE14-D42B5F05EB65}">
      <dgm:prSet/>
      <dgm:spPr/>
      <dgm:t>
        <a:bodyPr/>
        <a:lstStyle/>
        <a:p>
          <a:endParaRPr lang="en-US"/>
        </a:p>
      </dgm:t>
    </dgm:pt>
    <dgm:pt modelId="{4B8F4460-149D-40B3-BDB1-86DAACFDF59A}" type="sibTrans" cxnId="{38B1E92D-DBF2-42E4-AE14-D42B5F05EB65}">
      <dgm:prSet/>
      <dgm:spPr/>
      <dgm:t>
        <a:bodyPr/>
        <a:lstStyle/>
        <a:p>
          <a:endParaRPr lang="en-US"/>
        </a:p>
      </dgm:t>
    </dgm:pt>
    <dgm:pt modelId="{97AF3E06-E639-4276-A873-752A8D55CB80}">
      <dgm:prSet/>
      <dgm:spPr/>
      <dgm:t>
        <a:bodyPr/>
        <a:lstStyle/>
        <a:p>
          <a:r>
            <a:rPr lang="en-GB"/>
            <a:t>Further improvements: back testing on larger sets of data, risk scaling, costs, neutrality</a:t>
          </a:r>
          <a:endParaRPr lang="en-US"/>
        </a:p>
      </dgm:t>
    </dgm:pt>
    <dgm:pt modelId="{31D4524D-F945-49F2-A13C-643C1ECE0C20}" type="parTrans" cxnId="{C14097C5-2E6D-407B-B912-EB815682C7AB}">
      <dgm:prSet/>
      <dgm:spPr/>
      <dgm:t>
        <a:bodyPr/>
        <a:lstStyle/>
        <a:p>
          <a:endParaRPr lang="en-US"/>
        </a:p>
      </dgm:t>
    </dgm:pt>
    <dgm:pt modelId="{594D2B27-1DAA-4875-A82B-41BB8D7AAD74}" type="sibTrans" cxnId="{C14097C5-2E6D-407B-B912-EB815682C7AB}">
      <dgm:prSet/>
      <dgm:spPr/>
      <dgm:t>
        <a:bodyPr/>
        <a:lstStyle/>
        <a:p>
          <a:endParaRPr lang="en-US"/>
        </a:p>
      </dgm:t>
    </dgm:pt>
    <dgm:pt modelId="{AEE7D28D-DC6C-4F70-9F8E-F99FF1036ADB}" type="pres">
      <dgm:prSet presAssocID="{7035574E-044D-42D7-A35D-280F5565FAE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3986920-1DCF-4FDB-ADFE-7AFA34325F41}" type="pres">
      <dgm:prSet presAssocID="{1783BF27-C1B9-4AFF-99BA-B43FCCC92CE7}" presName="hierRoot1" presStyleCnt="0"/>
      <dgm:spPr/>
    </dgm:pt>
    <dgm:pt modelId="{55FF175A-CF84-4ACF-8240-42F29B7886CF}" type="pres">
      <dgm:prSet presAssocID="{1783BF27-C1B9-4AFF-99BA-B43FCCC92CE7}" presName="composite" presStyleCnt="0"/>
      <dgm:spPr/>
    </dgm:pt>
    <dgm:pt modelId="{5487D6AE-2915-4F05-9101-2AF1118C347E}" type="pres">
      <dgm:prSet presAssocID="{1783BF27-C1B9-4AFF-99BA-B43FCCC92CE7}" presName="background" presStyleLbl="node0" presStyleIdx="0" presStyleCnt="2"/>
      <dgm:spPr/>
    </dgm:pt>
    <dgm:pt modelId="{9E5FAEBB-BF7D-406D-8D2B-BC004085FFF0}" type="pres">
      <dgm:prSet presAssocID="{1783BF27-C1B9-4AFF-99BA-B43FCCC92CE7}" presName="text" presStyleLbl="fgAcc0" presStyleIdx="0" presStyleCnt="2">
        <dgm:presLayoutVars>
          <dgm:chPref val="3"/>
        </dgm:presLayoutVars>
      </dgm:prSet>
      <dgm:spPr/>
    </dgm:pt>
    <dgm:pt modelId="{5461F930-A8B1-4786-9904-2A7186529EC3}" type="pres">
      <dgm:prSet presAssocID="{1783BF27-C1B9-4AFF-99BA-B43FCCC92CE7}" presName="hierChild2" presStyleCnt="0"/>
      <dgm:spPr/>
    </dgm:pt>
    <dgm:pt modelId="{0181FCF8-6660-43B0-A50E-A3D4F0852E0E}" type="pres">
      <dgm:prSet presAssocID="{97AF3E06-E639-4276-A873-752A8D55CB80}" presName="hierRoot1" presStyleCnt="0"/>
      <dgm:spPr/>
    </dgm:pt>
    <dgm:pt modelId="{903DDC76-F075-4DE5-90FF-42D4974F98A5}" type="pres">
      <dgm:prSet presAssocID="{97AF3E06-E639-4276-A873-752A8D55CB80}" presName="composite" presStyleCnt="0"/>
      <dgm:spPr/>
    </dgm:pt>
    <dgm:pt modelId="{260DD427-87A3-4F2E-B0FF-CEC5FD66D5C8}" type="pres">
      <dgm:prSet presAssocID="{97AF3E06-E639-4276-A873-752A8D55CB80}" presName="background" presStyleLbl="node0" presStyleIdx="1" presStyleCnt="2"/>
      <dgm:spPr/>
    </dgm:pt>
    <dgm:pt modelId="{E9A0A66C-3DFE-427E-ABF9-C9061336D75A}" type="pres">
      <dgm:prSet presAssocID="{97AF3E06-E639-4276-A873-752A8D55CB80}" presName="text" presStyleLbl="fgAcc0" presStyleIdx="1" presStyleCnt="2">
        <dgm:presLayoutVars>
          <dgm:chPref val="3"/>
        </dgm:presLayoutVars>
      </dgm:prSet>
      <dgm:spPr/>
    </dgm:pt>
    <dgm:pt modelId="{D308B3C2-9D63-4E54-98E3-5BEC2A149153}" type="pres">
      <dgm:prSet presAssocID="{97AF3E06-E639-4276-A873-752A8D55CB80}" presName="hierChild2" presStyleCnt="0"/>
      <dgm:spPr/>
    </dgm:pt>
  </dgm:ptLst>
  <dgm:cxnLst>
    <dgm:cxn modelId="{38B1E92D-DBF2-42E4-AE14-D42B5F05EB65}" srcId="{7035574E-044D-42D7-A35D-280F5565FAEF}" destId="{1783BF27-C1B9-4AFF-99BA-B43FCCC92CE7}" srcOrd="0" destOrd="0" parTransId="{D2E36796-E70E-4768-9C21-FE436BF56DD8}" sibTransId="{4B8F4460-149D-40B3-BDB1-86DAACFDF59A}"/>
    <dgm:cxn modelId="{D81BF69A-ED5D-49CA-8288-52F417ABFD46}" type="presOf" srcId="{1783BF27-C1B9-4AFF-99BA-B43FCCC92CE7}" destId="{9E5FAEBB-BF7D-406D-8D2B-BC004085FFF0}" srcOrd="0" destOrd="0" presId="urn:microsoft.com/office/officeart/2005/8/layout/hierarchy1"/>
    <dgm:cxn modelId="{C14097C5-2E6D-407B-B912-EB815682C7AB}" srcId="{7035574E-044D-42D7-A35D-280F5565FAEF}" destId="{97AF3E06-E639-4276-A873-752A8D55CB80}" srcOrd="1" destOrd="0" parTransId="{31D4524D-F945-49F2-A13C-643C1ECE0C20}" sibTransId="{594D2B27-1DAA-4875-A82B-41BB8D7AAD74}"/>
    <dgm:cxn modelId="{5372C9F2-5C86-42F4-A87D-6D26C29B26C9}" type="presOf" srcId="{7035574E-044D-42D7-A35D-280F5565FAEF}" destId="{AEE7D28D-DC6C-4F70-9F8E-F99FF1036ADB}" srcOrd="0" destOrd="0" presId="urn:microsoft.com/office/officeart/2005/8/layout/hierarchy1"/>
    <dgm:cxn modelId="{EBBEF7F4-5A6E-46F7-BFF1-08CE52AE9E26}" type="presOf" srcId="{97AF3E06-E639-4276-A873-752A8D55CB80}" destId="{E9A0A66C-3DFE-427E-ABF9-C9061336D75A}" srcOrd="0" destOrd="0" presId="urn:microsoft.com/office/officeart/2005/8/layout/hierarchy1"/>
    <dgm:cxn modelId="{D5C996DD-50D4-4934-82CE-5A2782DD9E4A}" type="presParOf" srcId="{AEE7D28D-DC6C-4F70-9F8E-F99FF1036ADB}" destId="{E3986920-1DCF-4FDB-ADFE-7AFA34325F41}" srcOrd="0" destOrd="0" presId="urn:microsoft.com/office/officeart/2005/8/layout/hierarchy1"/>
    <dgm:cxn modelId="{89D085E9-F5F9-4A8E-939A-849CD5C40E40}" type="presParOf" srcId="{E3986920-1DCF-4FDB-ADFE-7AFA34325F41}" destId="{55FF175A-CF84-4ACF-8240-42F29B7886CF}" srcOrd="0" destOrd="0" presId="urn:microsoft.com/office/officeart/2005/8/layout/hierarchy1"/>
    <dgm:cxn modelId="{B354BF7C-F17D-494D-B643-78DA94022286}" type="presParOf" srcId="{55FF175A-CF84-4ACF-8240-42F29B7886CF}" destId="{5487D6AE-2915-4F05-9101-2AF1118C347E}" srcOrd="0" destOrd="0" presId="urn:microsoft.com/office/officeart/2005/8/layout/hierarchy1"/>
    <dgm:cxn modelId="{C66EE607-A7DE-4D33-97C5-10FCCA45A150}" type="presParOf" srcId="{55FF175A-CF84-4ACF-8240-42F29B7886CF}" destId="{9E5FAEBB-BF7D-406D-8D2B-BC004085FFF0}" srcOrd="1" destOrd="0" presId="urn:microsoft.com/office/officeart/2005/8/layout/hierarchy1"/>
    <dgm:cxn modelId="{EB5B93AB-B2D9-42BA-94DD-77FC95FD220F}" type="presParOf" srcId="{E3986920-1DCF-4FDB-ADFE-7AFA34325F41}" destId="{5461F930-A8B1-4786-9904-2A7186529EC3}" srcOrd="1" destOrd="0" presId="urn:microsoft.com/office/officeart/2005/8/layout/hierarchy1"/>
    <dgm:cxn modelId="{3D3CF602-B713-4903-B658-EAAD11FB03EF}" type="presParOf" srcId="{AEE7D28D-DC6C-4F70-9F8E-F99FF1036ADB}" destId="{0181FCF8-6660-43B0-A50E-A3D4F0852E0E}" srcOrd="1" destOrd="0" presId="urn:microsoft.com/office/officeart/2005/8/layout/hierarchy1"/>
    <dgm:cxn modelId="{927691E2-2F06-4E95-A82F-41EEA5CCCE48}" type="presParOf" srcId="{0181FCF8-6660-43B0-A50E-A3D4F0852E0E}" destId="{903DDC76-F075-4DE5-90FF-42D4974F98A5}" srcOrd="0" destOrd="0" presId="urn:microsoft.com/office/officeart/2005/8/layout/hierarchy1"/>
    <dgm:cxn modelId="{4914C9E6-A3F5-40A0-A79C-D22D23AC300D}" type="presParOf" srcId="{903DDC76-F075-4DE5-90FF-42D4974F98A5}" destId="{260DD427-87A3-4F2E-B0FF-CEC5FD66D5C8}" srcOrd="0" destOrd="0" presId="urn:microsoft.com/office/officeart/2005/8/layout/hierarchy1"/>
    <dgm:cxn modelId="{2EC51CC3-F24B-426D-85D7-353BED4BF26E}" type="presParOf" srcId="{903DDC76-F075-4DE5-90FF-42D4974F98A5}" destId="{E9A0A66C-3DFE-427E-ABF9-C9061336D75A}" srcOrd="1" destOrd="0" presId="urn:microsoft.com/office/officeart/2005/8/layout/hierarchy1"/>
    <dgm:cxn modelId="{4DFF6ABA-CAAF-4E63-BBBB-1966D45F1DE9}" type="presParOf" srcId="{0181FCF8-6660-43B0-A50E-A3D4F0852E0E}" destId="{D308B3C2-9D63-4E54-98E3-5BEC2A14915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CE78A0-9005-484B-95F8-156E4F3DF610}">
      <dsp:nvSpPr>
        <dsp:cNvPr id="0" name=""/>
        <dsp:cNvSpPr/>
      </dsp:nvSpPr>
      <dsp:spPr>
        <a:xfrm>
          <a:off x="1000" y="925849"/>
          <a:ext cx="3901842" cy="23411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Approach 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Highly correlated stocks tend to revert to group mean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Temporary deviations create trading opportunities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Trade relative value instead of market direction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Market-neutral by construction</a:t>
          </a:r>
          <a:endParaRPr lang="en-US" sz="1500" kern="1200"/>
        </a:p>
      </dsp:txBody>
      <dsp:txXfrm>
        <a:off x="1000" y="925849"/>
        <a:ext cx="3901842" cy="2341105"/>
      </dsp:txXfrm>
    </dsp:sp>
    <dsp:sp modelId="{74D47909-935C-411E-A2C7-C073750EE8AA}">
      <dsp:nvSpPr>
        <dsp:cNvPr id="0" name=""/>
        <dsp:cNvSpPr/>
      </dsp:nvSpPr>
      <dsp:spPr>
        <a:xfrm>
          <a:off x="4293027" y="925849"/>
          <a:ext cx="3901842" cy="234110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Assumptions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Stocks within a cluster are assumed to maintain similar behavior over time, so historical correlations remain valid.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Deviations of a stock from its cluster mean are temporary and expected to revert toward zero.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Liquidity and Tradability: All stocks can be traded daily with minimal slippage and transaction costs.</a:t>
          </a:r>
          <a:endParaRPr lang="en-US" sz="1500" kern="1200"/>
        </a:p>
      </dsp:txBody>
      <dsp:txXfrm>
        <a:off x="4293027" y="925849"/>
        <a:ext cx="3901842" cy="23411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87D6AE-2915-4F05-9101-2AF1118C347E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5FAEBB-BF7D-406D-8D2B-BC004085FFF0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Positive PnL indicates successful mean-reversion capture</a:t>
          </a:r>
          <a:endParaRPr lang="en-US" sz="2700" kern="1200"/>
        </a:p>
      </dsp:txBody>
      <dsp:txXfrm>
        <a:off x="456496" y="980400"/>
        <a:ext cx="3381034" cy="2099279"/>
      </dsp:txXfrm>
    </dsp:sp>
    <dsp:sp modelId="{260DD427-87A3-4F2E-B0FF-CEC5FD66D5C8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0A66C-3DFE-427E-ABF9-C9061336D75A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Further improvements: back testing on larger sets of data, risk scaling, costs, neutrality</a:t>
          </a:r>
          <a:endParaRPr lang="en-US" sz="2700" kern="1200"/>
        </a:p>
      </dsp:txBody>
      <dsp:txXfrm>
        <a:off x="4748523" y="980400"/>
        <a:ext cx="3381034" cy="2099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69F9E-A46A-4B13-9A56-B8AB7EFC8713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A82C9D-97F3-41B7-BE80-32B81CDFAC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010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82C9D-97F3-41B7-BE80-32B81CDFACC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6857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82C9D-97F3-41B7-BE80-32B81CDFACC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743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82C9D-97F3-41B7-BE80-32B81CDFACC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646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019" y="1030406"/>
            <a:ext cx="6110785" cy="3081242"/>
          </a:xfrm>
        </p:spPr>
        <p:txBody>
          <a:bodyPr anchor="ctr">
            <a:normAutofit/>
          </a:bodyPr>
          <a:lstStyle/>
          <a:p>
            <a:r>
              <a:rPr lang="en-GB" sz="4200" dirty="0">
                <a:solidFill>
                  <a:srgbClr val="FFFFFF"/>
                </a:solidFill>
              </a:rPr>
              <a:t>Week 1: Correlation-Based Clustering &amp; Mean-Reversion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57" y="5171093"/>
            <a:ext cx="6808971" cy="8606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700" dirty="0">
                <a:solidFill>
                  <a:srgbClr val="FFFFFF"/>
                </a:solidFill>
              </a:rPr>
              <a:t>Heiley Wong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Subtask A: Correlation Metrics</a:t>
            </a:r>
          </a:p>
        </p:txBody>
      </p:sp>
      <p:pic>
        <p:nvPicPr>
          <p:cNvPr id="7" name="Content Placeholder 6" descr="A white paper with black text and numbers&#10;&#10;AI-generated content may be incorrect.">
            <a:extLst>
              <a:ext uri="{FF2B5EF4-FFF2-40B4-BE49-F238E27FC236}">
                <a16:creationId xmlns:a16="http://schemas.microsoft.com/office/drawing/2014/main" id="{CE0FBB3C-0BD1-DB52-D62B-6FA829D2B1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167" y="2300370"/>
            <a:ext cx="8495662" cy="35469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F35A01-0051-6E1E-B801-1626F1808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420177"/>
            <a:ext cx="8458200" cy="401764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0C78B90-1922-B675-7C37-2C17BF09B3E9}"/>
              </a:ext>
            </a:extLst>
          </p:cNvPr>
          <p:cNvSpPr txBox="1">
            <a:spLocks/>
          </p:cNvSpPr>
          <p:nvPr/>
        </p:nvSpPr>
        <p:spPr>
          <a:xfrm>
            <a:off x="457200" y="468922"/>
            <a:ext cx="8229600" cy="948715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bg1"/>
                </a:solidFill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3770144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492"/>
            <a:ext cx="9143999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35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8" y="-3783777"/>
            <a:ext cx="1576446" cy="9144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9075" y="986"/>
            <a:ext cx="3227567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5" y="353160"/>
            <a:ext cx="5318475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>
                <a:solidFill>
                  <a:srgbClr val="FFFFFF"/>
                </a:solidFill>
              </a:rPr>
              <a:t>Subtask B: Clustering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8630" y="387224"/>
            <a:ext cx="2468879" cy="8304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>
                <a:solidFill>
                  <a:srgbClr val="FFFFFF"/>
                </a:solidFill>
              </a:rPr>
              <a:t>Comparison of clustering methods</a:t>
            </a:r>
          </a:p>
        </p:txBody>
      </p:sp>
      <p:pic>
        <p:nvPicPr>
          <p:cNvPr id="18" name="Picture 17" descr="A screenshot of a white paper with black text&#10;&#10;AI-generated content may be incorrect.">
            <a:extLst>
              <a:ext uri="{FF2B5EF4-FFF2-40B4-BE49-F238E27FC236}">
                <a16:creationId xmlns:a16="http://schemas.microsoft.com/office/drawing/2014/main" id="{854274CA-8CCC-21A0-3D95-3D5447B04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29" y="2181426"/>
            <a:ext cx="3770498" cy="3997637"/>
          </a:xfrm>
          <a:prstGeom prst="rect">
            <a:avLst/>
          </a:prstGeom>
        </p:spPr>
      </p:pic>
      <p:pic>
        <p:nvPicPr>
          <p:cNvPr id="20" name="Picture 19" descr="A screenshot of a white and black text&#10;&#10;AI-generated content may be incorrect.">
            <a:extLst>
              <a:ext uri="{FF2B5EF4-FFF2-40B4-BE49-F238E27FC236}">
                <a16:creationId xmlns:a16="http://schemas.microsoft.com/office/drawing/2014/main" id="{33A63724-23F9-2880-0471-D1E43B33E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873" y="2217815"/>
            <a:ext cx="3734917" cy="39978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E7622B-69BF-0461-B319-503E7AE74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E02ED3-1074-0493-2A33-1DF36451A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AA389A-2C04-7350-675E-2E75FF51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50922B-87A0-59B0-B59D-5560008F9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8FC46F-51D9-402B-5CF9-98E9ABEDE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AAA299-949C-7929-6EA7-E7344404CCB7}"/>
              </a:ext>
            </a:extLst>
          </p:cNvPr>
          <p:cNvSpPr txBox="1">
            <a:spLocks/>
          </p:cNvSpPr>
          <p:nvPr/>
        </p:nvSpPr>
        <p:spPr>
          <a:xfrm>
            <a:off x="457200" y="468922"/>
            <a:ext cx="8229600" cy="948715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chemeClr val="bg1"/>
                </a:solidFill>
              </a:rPr>
              <a:t>Clustering of 50 stocks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975E6-B10E-A9E5-10B9-A3A743E69CC7}"/>
              </a:ext>
            </a:extLst>
          </p:cNvPr>
          <p:cNvSpPr txBox="1">
            <a:spLocks/>
          </p:cNvSpPr>
          <p:nvPr/>
        </p:nvSpPr>
        <p:spPr>
          <a:xfrm>
            <a:off x="457200" y="5638800"/>
            <a:ext cx="8229600" cy="94456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GB" sz="1400" dirty="0">
                <a:solidFill>
                  <a:schemeClr val="bg1"/>
                </a:solidFill>
              </a:rPr>
              <a:t>Clustering Performance Metrics:</a:t>
            </a:r>
          </a:p>
          <a:p>
            <a:pPr latinLnBrk="1"/>
            <a:r>
              <a:rPr lang="en-GB" sz="1400" dirty="0">
                <a:solidFill>
                  <a:schemeClr val="bg1"/>
                </a:solidFill>
              </a:rPr>
              <a:t>Number of clusters: 8</a:t>
            </a:r>
          </a:p>
          <a:p>
            <a:pPr latinLnBrk="1"/>
            <a:r>
              <a:rPr lang="en-GB" sz="1400" dirty="0">
                <a:solidFill>
                  <a:schemeClr val="bg1"/>
                </a:solidFill>
              </a:rPr>
              <a:t>Silhouette Score: 0.235</a:t>
            </a:r>
          </a:p>
          <a:p>
            <a:pPr latinLnBrk="1"/>
            <a:r>
              <a:rPr lang="en-GB" sz="1400" dirty="0" err="1">
                <a:solidFill>
                  <a:schemeClr val="bg1"/>
                </a:solidFill>
              </a:rPr>
              <a:t>Calinski-Harabasz</a:t>
            </a:r>
            <a:r>
              <a:rPr lang="en-GB" sz="1400" dirty="0">
                <a:solidFill>
                  <a:schemeClr val="bg1"/>
                </a:solidFill>
              </a:rPr>
              <a:t> Score: 9.5 </a:t>
            </a:r>
          </a:p>
        </p:txBody>
      </p:sp>
      <p:pic>
        <p:nvPicPr>
          <p:cNvPr id="5" name="Picture 4" descr="A group of graphs and diagrams&#10;&#10;AI-generated content may be incorrect.">
            <a:extLst>
              <a:ext uri="{FF2B5EF4-FFF2-40B4-BE49-F238E27FC236}">
                <a16:creationId xmlns:a16="http://schemas.microsoft.com/office/drawing/2014/main" id="{3CAF62F9-E558-0718-E76E-D8B462067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44" y="1343139"/>
            <a:ext cx="6318196" cy="417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158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Subtask C: Mean-Reversion Strategy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086D2E6E-1111-FA81-9FA5-A445C0E91F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113621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EB5785-E6CE-3432-8EA5-CE62DF4A0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Detailed strategy</a:t>
            </a:r>
          </a:p>
        </p:txBody>
      </p:sp>
      <p:pic>
        <p:nvPicPr>
          <p:cNvPr id="5" name="Content Placeholder 4" descr="A screenshot of a white page&#10;&#10;AI-generated content may be incorrect.">
            <a:extLst>
              <a:ext uri="{FF2B5EF4-FFF2-40B4-BE49-F238E27FC236}">
                <a16:creationId xmlns:a16="http://schemas.microsoft.com/office/drawing/2014/main" id="{D04C38BA-28F0-FB7A-4182-54FC1EBBBC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3332" y="774013"/>
            <a:ext cx="5986286" cy="532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72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Subtask D: Backtesting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784" y="1818813"/>
            <a:ext cx="2425189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b="1" kern="1200" dirty="0">
                <a:latin typeface="+mn-lt"/>
                <a:ea typeface="+mn-ea"/>
                <a:cs typeface="+mn-cs"/>
              </a:rPr>
              <a:t>Performance metrics</a:t>
            </a:r>
          </a:p>
        </p:txBody>
      </p:sp>
      <p:pic>
        <p:nvPicPr>
          <p:cNvPr id="7" name="Picture 6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0AC7FD42-592B-B4A8-E9FE-46BEACA26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84" y="2620792"/>
            <a:ext cx="6979308" cy="30895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113" y="5365352"/>
            <a:ext cx="3426795" cy="1080077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GB" sz="4200" dirty="0">
                <a:solidFill>
                  <a:schemeClr val="bg1"/>
                </a:solidFill>
              </a:rPr>
              <a:t>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6724" y="5430538"/>
            <a:ext cx="4255578" cy="1183014"/>
          </a:xfrm>
          <a:noFill/>
        </p:spPr>
        <p:txBody>
          <a:bodyPr anchor="t">
            <a:normAutofit lnSpcReduction="10000"/>
          </a:bodyPr>
          <a:lstStyle/>
          <a:p>
            <a:pPr latinLnBrk="1"/>
            <a:r>
              <a:rPr lang="en-GB" sz="1600" dirty="0">
                <a:solidFill>
                  <a:schemeClr val="bg1"/>
                </a:solidFill>
              </a:rPr>
              <a:t>Number of stocks traded: 43</a:t>
            </a:r>
          </a:p>
          <a:p>
            <a:pPr latinLnBrk="1"/>
            <a:r>
              <a:rPr lang="en-GB" sz="1600" dirty="0">
                <a:solidFill>
                  <a:schemeClr val="bg1"/>
                </a:solidFill>
              </a:rPr>
              <a:t>Total Portfolio </a:t>
            </a:r>
            <a:r>
              <a:rPr lang="en-GB" sz="1600" dirty="0" err="1">
                <a:solidFill>
                  <a:schemeClr val="bg1"/>
                </a:solidFill>
              </a:rPr>
              <a:t>PnL</a:t>
            </a:r>
            <a:r>
              <a:rPr lang="en-GB" sz="1600" dirty="0">
                <a:solidFill>
                  <a:schemeClr val="bg1"/>
                </a:solidFill>
              </a:rPr>
              <a:t>: 7.2352</a:t>
            </a:r>
          </a:p>
          <a:p>
            <a:pPr latinLnBrk="1"/>
            <a:r>
              <a:rPr lang="en-GB" sz="1600" dirty="0">
                <a:solidFill>
                  <a:schemeClr val="bg1"/>
                </a:solidFill>
              </a:rPr>
              <a:t>Annualized Sharpe Ratio: 0.7118</a:t>
            </a:r>
          </a:p>
          <a:p>
            <a:pPr latinLnBrk="1"/>
            <a:r>
              <a:rPr lang="en-GB" sz="1600" dirty="0">
                <a:solidFill>
                  <a:schemeClr val="bg1"/>
                </a:solidFill>
              </a:rPr>
              <a:t>Max Drawdown: -3.9004</a:t>
            </a:r>
          </a:p>
        </p:txBody>
      </p:sp>
      <p:pic>
        <p:nvPicPr>
          <p:cNvPr id="9" name="Picture 8" descr="A graph showing a line graph&#10;&#10;AI-generated content may be incorrect.">
            <a:extLst>
              <a:ext uri="{FF2B5EF4-FFF2-40B4-BE49-F238E27FC236}">
                <a16:creationId xmlns:a16="http://schemas.microsoft.com/office/drawing/2014/main" id="{DFB314FE-FC75-7756-DCE4-D417FDDC2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93" y="621036"/>
            <a:ext cx="8078327" cy="44297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8C7FA-A856-AB03-F7B8-58D948BCB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GB" sz="3500" dirty="0">
                <a:solidFill>
                  <a:srgbClr val="FFFFFF"/>
                </a:solidFill>
              </a:rPr>
              <a:t>Summary</a:t>
            </a: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05813E99-DBDD-786A-93D3-C6B8E0F176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32822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9259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FB38E5-BA02-BA1B-50EC-FC503F153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21304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191</Words>
  <Application>Microsoft Office PowerPoint</Application>
  <PresentationFormat>On-screen Show (4:3)</PresentationFormat>
  <Paragraphs>36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Week 1: Correlation-Based Clustering &amp; Mean-Reversion Strategy</vt:lpstr>
      <vt:lpstr>Subtask A: Correlation Metrics</vt:lpstr>
      <vt:lpstr>PowerPoint Presentation</vt:lpstr>
      <vt:lpstr>Subtask B: Clustering Model</vt:lpstr>
      <vt:lpstr>PowerPoint Presentation</vt:lpstr>
      <vt:lpstr>Subtask C: Mean-Reversion Strategy</vt:lpstr>
      <vt:lpstr>Detailed strategy</vt:lpstr>
      <vt:lpstr>Subtask D: Backtesting Method</vt:lpstr>
      <vt:lpstr>Result</vt:lpstr>
      <vt:lpstr>Summary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Heiley Wong</dc:creator>
  <cp:keywords/>
  <dc:description>generated using python-pptx</dc:description>
  <cp:lastModifiedBy>Wong, Heiley</cp:lastModifiedBy>
  <cp:revision>2</cp:revision>
  <dcterms:created xsi:type="dcterms:W3CDTF">2013-01-27T09:14:16Z</dcterms:created>
  <dcterms:modified xsi:type="dcterms:W3CDTF">2026-01-08T18:22:05Z</dcterms:modified>
  <cp:category/>
</cp:coreProperties>
</file>