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83" r:id="rId1"/>
  </p:sldMasterIdLst>
  <p:sldIdLst>
    <p:sldId id="256" r:id="rId2"/>
    <p:sldId id="282" r:id="rId3"/>
    <p:sldId id="258" r:id="rId4"/>
    <p:sldId id="259" r:id="rId5"/>
    <p:sldId id="260" r:id="rId6"/>
    <p:sldId id="28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6" r:id="rId20"/>
    <p:sldId id="277" r:id="rId21"/>
    <p:sldId id="280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364"/>
    <p:restoredTop sz="94643"/>
  </p:normalViewPr>
  <p:slideViewPr>
    <p:cSldViewPr snapToGrid="0" snapToObjects="1">
      <p:cViewPr>
        <p:scale>
          <a:sx n="124" d="100"/>
          <a:sy n="124" d="100"/>
        </p:scale>
        <p:origin x="1088" y="-12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42416" y="2514601"/>
            <a:ext cx="6600451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42416" y="4777380"/>
            <a:ext cx="6600451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8"/>
          <p:cNvSpPr/>
          <p:nvPr/>
        </p:nvSpPr>
        <p:spPr bwMode="auto">
          <a:xfrm>
            <a:off x="-31719" y="4321158"/>
            <a:ext cx="1395473" cy="781781"/>
          </a:xfrm>
          <a:custGeom>
            <a:avLst/>
            <a:gdLst/>
            <a:ahLst/>
            <a:cxnLst/>
            <a:rect l="l" t="t" r="r" b="b"/>
            <a:pathLst>
              <a:path w="8042" h="10000">
                <a:moveTo>
                  <a:pt x="5799" y="10000"/>
                </a:moveTo>
                <a:cubicBezTo>
                  <a:pt x="5880" y="10000"/>
                  <a:pt x="5934" y="9940"/>
                  <a:pt x="5961" y="9880"/>
                </a:cubicBezTo>
                <a:cubicBezTo>
                  <a:pt x="5961" y="9820"/>
                  <a:pt x="5988" y="9820"/>
                  <a:pt x="5988" y="9820"/>
                </a:cubicBezTo>
                <a:lnTo>
                  <a:pt x="8042" y="5260"/>
                </a:lnTo>
                <a:cubicBezTo>
                  <a:pt x="8096" y="5140"/>
                  <a:pt x="8096" y="4901"/>
                  <a:pt x="8042" y="4721"/>
                </a:cubicBezTo>
                <a:lnTo>
                  <a:pt x="5988" y="221"/>
                </a:lnTo>
                <a:cubicBezTo>
                  <a:pt x="5988" y="160"/>
                  <a:pt x="5961" y="160"/>
                  <a:pt x="5961" y="160"/>
                </a:cubicBezTo>
                <a:cubicBezTo>
                  <a:pt x="5934" y="101"/>
                  <a:pt x="5880" y="41"/>
                  <a:pt x="5799" y="41"/>
                </a:cubicBezTo>
                <a:lnTo>
                  <a:pt x="18" y="0"/>
                </a:lnTo>
                <a:cubicBezTo>
                  <a:pt x="12" y="3330"/>
                  <a:pt x="6" y="6661"/>
                  <a:pt x="0" y="9991"/>
                </a:cubicBezTo>
                <a:lnTo>
                  <a:pt x="5799" y="10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23334" y="4529541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83927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5201" y="624110"/>
            <a:ext cx="6589199" cy="128089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42415" y="2133600"/>
            <a:ext cx="6591985" cy="377762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40702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2074562"/>
            <a:ext cx="6591985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3581400"/>
            <a:ext cx="659198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8010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942416" y="2136706"/>
            <a:ext cx="3197531" cy="3767397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37307" y="2136706"/>
            <a:ext cx="3197093" cy="3767397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787783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00319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65352" y="2226626"/>
            <a:ext cx="287459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942415" y="2802888"/>
            <a:ext cx="3197532" cy="3105703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6154" y="2223398"/>
            <a:ext cx="28732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333715" y="2799660"/>
            <a:ext cx="3195680" cy="3105703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2/5/26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787783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95109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5200" y="624110"/>
            <a:ext cx="6589200" cy="128089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2/5/26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0021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2/5/26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10213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446088"/>
            <a:ext cx="2629584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43494" y="446089"/>
            <a:ext cx="3790906" cy="5414963"/>
          </a:xfrm>
        </p:spPr>
        <p:txBody>
          <a:bodyPr anchor="ctr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1598613"/>
            <a:ext cx="2629584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6098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4800600"/>
            <a:ext cx="6591985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42415" y="634965"/>
            <a:ext cx="6591985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367338"/>
            <a:ext cx="6591985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35269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609600"/>
            <a:ext cx="6591985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4354046"/>
            <a:ext cx="6591985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09875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88123" y="609600"/>
            <a:ext cx="6109587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15972" y="3505200"/>
            <a:ext cx="5653888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4354046"/>
            <a:ext cx="6591985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9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1808316" y="64800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9533" y="290530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46540451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2438401"/>
            <a:ext cx="6591985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591985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04878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2188123" y="609600"/>
            <a:ext cx="6109587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42415" y="4343400"/>
            <a:ext cx="6688292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688292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1808316" y="64800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69533" y="290530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798676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6" y="627407"/>
            <a:ext cx="6591984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42415" y="4343400"/>
            <a:ext cx="6591985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591985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994110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495141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78535" y="627406"/>
            <a:ext cx="1656132" cy="5283817"/>
          </a:xfrm>
        </p:spPr>
        <p:txBody>
          <a:bodyPr vert="eaVert" anchor="ctr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42416" y="627406"/>
            <a:ext cx="4716348" cy="5283817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83933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Group 35"/>
          <p:cNvGrpSpPr/>
          <p:nvPr/>
        </p:nvGrpSpPr>
        <p:grpSpPr>
          <a:xfrm>
            <a:off x="1" y="228600"/>
            <a:ext cx="1981200" cy="6638628"/>
            <a:chOff x="2487613" y="285750"/>
            <a:chExt cx="2428875" cy="5654676"/>
          </a:xfrm>
        </p:grpSpPr>
        <p:sp>
          <p:nvSpPr>
            <p:cNvPr id="37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8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9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0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1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2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3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4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5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6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7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8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49" name="Group 48"/>
          <p:cNvGrpSpPr/>
          <p:nvPr/>
        </p:nvGrpSpPr>
        <p:grpSpPr>
          <a:xfrm>
            <a:off x="20421" y="285"/>
            <a:ext cx="1952272" cy="6852968"/>
            <a:chOff x="6627813" y="195717"/>
            <a:chExt cx="1952625" cy="5678034"/>
          </a:xfrm>
        </p:grpSpPr>
        <p:sp>
          <p:nvSpPr>
            <p:cNvPr id="50" name="Freeform 27"/>
            <p:cNvSpPr/>
            <p:nvPr/>
          </p:nvSpPr>
          <p:spPr bwMode="auto">
            <a:xfrm>
              <a:off x="6627813" y="195717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1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2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3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4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5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6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7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8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9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60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61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62" name="Rectangle 6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945200" y="624110"/>
            <a:ext cx="6589200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2133600"/>
            <a:ext cx="6591985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772400" y="6135089"/>
            <a:ext cx="766380" cy="3701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42415" y="6135809"/>
            <a:ext cx="57164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11228" y="787783"/>
            <a:ext cx="58497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942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4" r:id="rId1"/>
    <p:sldLayoutId id="2147483785" r:id="rId2"/>
    <p:sldLayoutId id="2147483786" r:id="rId3"/>
    <p:sldLayoutId id="2147483787" r:id="rId4"/>
    <p:sldLayoutId id="2147483788" r:id="rId5"/>
    <p:sldLayoutId id="2147483789" r:id="rId6"/>
    <p:sldLayoutId id="2147483790" r:id="rId7"/>
    <p:sldLayoutId id="2147483791" r:id="rId8"/>
    <p:sldLayoutId id="2147483792" r:id="rId9"/>
    <p:sldLayoutId id="2147483793" r:id="rId10"/>
    <p:sldLayoutId id="2147483794" r:id="rId11"/>
    <p:sldLayoutId id="2147483795" r:id="rId12"/>
    <p:sldLayoutId id="2147483796" r:id="rId13"/>
    <p:sldLayoutId id="2147483797" r:id="rId14"/>
    <p:sldLayoutId id="2147483798" r:id="rId15"/>
    <p:sldLayoutId id="214748379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isda.org/" TargetMode="Externa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8CD25866-F15D-40A4-AEC5-47C044637A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0" y="228600"/>
            <a:ext cx="2138628" cy="6638625"/>
            <a:chOff x="2487613" y="285750"/>
            <a:chExt cx="2428875" cy="5654676"/>
          </a:xfrm>
        </p:grpSpPr>
        <p:sp>
          <p:nvSpPr>
            <p:cNvPr id="8" name="Freeform 11">
              <a:extLst>
                <a:ext uri="{FF2B5EF4-FFF2-40B4-BE49-F238E27FC236}">
                  <a16:creationId xmlns:a16="http://schemas.microsoft.com/office/drawing/2014/main" id="{DCB8E995-36E8-40B6-82D4-F52DE2987B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Freeform 12">
              <a:extLst>
                <a:ext uri="{FF2B5EF4-FFF2-40B4-BE49-F238E27FC236}">
                  <a16:creationId xmlns:a16="http://schemas.microsoft.com/office/drawing/2014/main" id="{DF54AEB5-68B5-46AE-B8F0-EEBE5DFED80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Freeform 13">
              <a:extLst>
                <a:ext uri="{FF2B5EF4-FFF2-40B4-BE49-F238E27FC236}">
                  <a16:creationId xmlns:a16="http://schemas.microsoft.com/office/drawing/2014/main" id="{E3F708CB-F094-4EE7-8AD5-A462F1DF8B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Freeform 14">
              <a:extLst>
                <a:ext uri="{FF2B5EF4-FFF2-40B4-BE49-F238E27FC236}">
                  <a16:creationId xmlns:a16="http://schemas.microsoft.com/office/drawing/2014/main" id="{ECFCFB22-E8B5-4FAC-A354-E7E0CE6F2B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Freeform 15">
              <a:extLst>
                <a:ext uri="{FF2B5EF4-FFF2-40B4-BE49-F238E27FC236}">
                  <a16:creationId xmlns:a16="http://schemas.microsoft.com/office/drawing/2014/main" id="{ED1DB3B4-A6DC-476F-986E-DF361EE842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Freeform 16">
              <a:extLst>
                <a:ext uri="{FF2B5EF4-FFF2-40B4-BE49-F238E27FC236}">
                  <a16:creationId xmlns:a16="http://schemas.microsoft.com/office/drawing/2014/main" id="{4EE13DFA-3489-4DE6-9154-34D9CB4005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Freeform 17">
              <a:extLst>
                <a:ext uri="{FF2B5EF4-FFF2-40B4-BE49-F238E27FC236}">
                  <a16:creationId xmlns:a16="http://schemas.microsoft.com/office/drawing/2014/main" id="{5CD12D51-F9A8-4CC9-B9C9-206EAFD8C1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Freeform 18">
              <a:extLst>
                <a:ext uri="{FF2B5EF4-FFF2-40B4-BE49-F238E27FC236}">
                  <a16:creationId xmlns:a16="http://schemas.microsoft.com/office/drawing/2014/main" id="{266B326C-1178-40F9-A265-6067D363B4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Freeform 19">
              <a:extLst>
                <a:ext uri="{FF2B5EF4-FFF2-40B4-BE49-F238E27FC236}">
                  <a16:creationId xmlns:a16="http://schemas.microsoft.com/office/drawing/2014/main" id="{12F3B319-F00B-4755-BC54-95511E21DB2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Freeform 20">
              <a:extLst>
                <a:ext uri="{FF2B5EF4-FFF2-40B4-BE49-F238E27FC236}">
                  <a16:creationId xmlns:a16="http://schemas.microsoft.com/office/drawing/2014/main" id="{3079D7BD-8A3F-47F6-8407-D9DA96FF35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Freeform 21">
              <a:extLst>
                <a:ext uri="{FF2B5EF4-FFF2-40B4-BE49-F238E27FC236}">
                  <a16:creationId xmlns:a16="http://schemas.microsoft.com/office/drawing/2014/main" id="{1F97C31C-8585-43FB-924B-8ADD6512332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 22">
              <a:extLst>
                <a:ext uri="{FF2B5EF4-FFF2-40B4-BE49-F238E27FC236}">
                  <a16:creationId xmlns:a16="http://schemas.microsoft.com/office/drawing/2014/main" id="{A33E1C89-7E74-49BF-A5D1-9A352ED03E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0C4A17ED-96AA-44A6-A050-E1A7A1CDD9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0412" y="-786"/>
            <a:ext cx="1767505" cy="6854040"/>
            <a:chOff x="6627813" y="194833"/>
            <a:chExt cx="1952625" cy="5678918"/>
          </a:xfrm>
        </p:grpSpPr>
        <p:sp>
          <p:nvSpPr>
            <p:cNvPr id="22" name="Freeform 27">
              <a:extLst>
                <a:ext uri="{FF2B5EF4-FFF2-40B4-BE49-F238E27FC236}">
                  <a16:creationId xmlns:a16="http://schemas.microsoft.com/office/drawing/2014/main" id="{FBB2A87E-3E24-4A6F-9FD8-0F1436D4D3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Freeform 28">
              <a:extLst>
                <a:ext uri="{FF2B5EF4-FFF2-40B4-BE49-F238E27FC236}">
                  <a16:creationId xmlns:a16="http://schemas.microsoft.com/office/drawing/2014/main" id="{257F945B-2AA3-4328-BFF5-20DE64011B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Freeform 29">
              <a:extLst>
                <a:ext uri="{FF2B5EF4-FFF2-40B4-BE49-F238E27FC236}">
                  <a16:creationId xmlns:a16="http://schemas.microsoft.com/office/drawing/2014/main" id="{E1A7230F-6A6F-403C-9D83-7176E28525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Freeform 30">
              <a:extLst>
                <a:ext uri="{FF2B5EF4-FFF2-40B4-BE49-F238E27FC236}">
                  <a16:creationId xmlns:a16="http://schemas.microsoft.com/office/drawing/2014/main" id="{E33E315A-9CB0-460E-A8B7-0A064BBFA0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Freeform 31">
              <a:extLst>
                <a:ext uri="{FF2B5EF4-FFF2-40B4-BE49-F238E27FC236}">
                  <a16:creationId xmlns:a16="http://schemas.microsoft.com/office/drawing/2014/main" id="{22CAAD33-CFAD-4E61-82AE-0C6F838530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Freeform 32">
              <a:extLst>
                <a:ext uri="{FF2B5EF4-FFF2-40B4-BE49-F238E27FC236}">
                  <a16:creationId xmlns:a16="http://schemas.microsoft.com/office/drawing/2014/main" id="{1A20E13C-2540-4000-A13B-8F781100E3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Freeform 33">
              <a:extLst>
                <a:ext uri="{FF2B5EF4-FFF2-40B4-BE49-F238E27FC236}">
                  <a16:creationId xmlns:a16="http://schemas.microsoft.com/office/drawing/2014/main" id="{51EF0A01-E03D-448B-B12E-D5BFC6D0D22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Freeform 34">
              <a:extLst>
                <a:ext uri="{FF2B5EF4-FFF2-40B4-BE49-F238E27FC236}">
                  <a16:creationId xmlns:a16="http://schemas.microsoft.com/office/drawing/2014/main" id="{58286A03-168E-477B-8876-2C53E4950D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Freeform 35">
              <a:extLst>
                <a:ext uri="{FF2B5EF4-FFF2-40B4-BE49-F238E27FC236}">
                  <a16:creationId xmlns:a16="http://schemas.microsoft.com/office/drawing/2014/main" id="{3DFFC705-1899-4E4C-AE76-F85BAF2F66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Freeform 36">
              <a:extLst>
                <a:ext uri="{FF2B5EF4-FFF2-40B4-BE49-F238E27FC236}">
                  <a16:creationId xmlns:a16="http://schemas.microsoft.com/office/drawing/2014/main" id="{01C9598D-BDF6-4A24-83B6-4DCA4D1349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Freeform 37">
              <a:extLst>
                <a:ext uri="{FF2B5EF4-FFF2-40B4-BE49-F238E27FC236}">
                  <a16:creationId xmlns:a16="http://schemas.microsoft.com/office/drawing/2014/main" id="{950C8213-67CD-4DEF-AA44-8BB3101392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Freeform 38">
              <a:extLst>
                <a:ext uri="{FF2B5EF4-FFF2-40B4-BE49-F238E27FC236}">
                  <a16:creationId xmlns:a16="http://schemas.microsoft.com/office/drawing/2014/main" id="{2016FE1D-E3EB-4CF6-809B-159872CC78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5" name="Rectangle 34">
            <a:extLst>
              <a:ext uri="{FF2B5EF4-FFF2-40B4-BE49-F238E27FC236}">
                <a16:creationId xmlns:a16="http://schemas.microsoft.com/office/drawing/2014/main" id="{CE6C63DC-BAE4-42B6-8FDF-F6467C2D23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3716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7" name="Freeform 6">
            <a:extLst>
              <a:ext uri="{FF2B5EF4-FFF2-40B4-BE49-F238E27FC236}">
                <a16:creationId xmlns:a16="http://schemas.microsoft.com/office/drawing/2014/main" id="{5BD23F8E-2E78-4C84-8EFB-FE6C8ACB7F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0" y="4323810"/>
            <a:ext cx="1308489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 useBgFill="1">
        <p:nvSpPr>
          <p:cNvPr id="39" name="Rectangle 38">
            <a:extLst>
              <a:ext uri="{FF2B5EF4-FFF2-40B4-BE49-F238E27FC236}">
                <a16:creationId xmlns:a16="http://schemas.microsoft.com/office/drawing/2014/main" id="{57ABABA7-0420-4200-9B65-1C1967CE93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9143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A317EBE3-FF86-4DA1-BC9A-331F7F2144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3716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7A03E380-9CD1-4ABA-A763-9F9D252B89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4507495" y="0"/>
            <a:ext cx="4632727" cy="6853245"/>
            <a:chOff x="2487613" y="285750"/>
            <a:chExt cx="2428876" cy="5654676"/>
          </a:xfrm>
          <a:solidFill>
            <a:schemeClr val="bg2">
              <a:lumMod val="90000"/>
            </a:schemeClr>
          </a:solidFill>
        </p:grpSpPr>
        <p:sp>
          <p:nvSpPr>
            <p:cNvPr id="44" name="Freeform 11">
              <a:extLst>
                <a:ext uri="{FF2B5EF4-FFF2-40B4-BE49-F238E27FC236}">
                  <a16:creationId xmlns:a16="http://schemas.microsoft.com/office/drawing/2014/main" id="{66E01B84-4C2B-4DE5-90C8-9C4001A75B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5" name="Freeform 12">
              <a:extLst>
                <a:ext uri="{FF2B5EF4-FFF2-40B4-BE49-F238E27FC236}">
                  <a16:creationId xmlns:a16="http://schemas.microsoft.com/office/drawing/2014/main" id="{64CE5A7A-D5C5-4FE5-860C-0B5748FDEE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6" name="Freeform 13">
              <a:extLst>
                <a:ext uri="{FF2B5EF4-FFF2-40B4-BE49-F238E27FC236}">
                  <a16:creationId xmlns:a16="http://schemas.microsoft.com/office/drawing/2014/main" id="{016A7D2A-6EEA-47B8-A763-7D82E41B3C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7" name="Freeform 14">
              <a:extLst>
                <a:ext uri="{FF2B5EF4-FFF2-40B4-BE49-F238E27FC236}">
                  <a16:creationId xmlns:a16="http://schemas.microsoft.com/office/drawing/2014/main" id="{E758F6E7-6DEC-48D0-ACB1-E5E26B13E6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8" name="Freeform 15">
              <a:extLst>
                <a:ext uri="{FF2B5EF4-FFF2-40B4-BE49-F238E27FC236}">
                  <a16:creationId xmlns:a16="http://schemas.microsoft.com/office/drawing/2014/main" id="{B56657FF-C027-42E7-859B-902929B6FA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9" name="Freeform 16">
              <a:extLst>
                <a:ext uri="{FF2B5EF4-FFF2-40B4-BE49-F238E27FC236}">
                  <a16:creationId xmlns:a16="http://schemas.microsoft.com/office/drawing/2014/main" id="{79047F2A-5978-46C6-B3A2-54AAC2136B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0" name="Freeform 17">
              <a:extLst>
                <a:ext uri="{FF2B5EF4-FFF2-40B4-BE49-F238E27FC236}">
                  <a16:creationId xmlns:a16="http://schemas.microsoft.com/office/drawing/2014/main" id="{F3BE8FD1-0A72-4640-AC7A-2E057273F8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1" name="Freeform 18">
              <a:extLst>
                <a:ext uri="{FF2B5EF4-FFF2-40B4-BE49-F238E27FC236}">
                  <a16:creationId xmlns:a16="http://schemas.microsoft.com/office/drawing/2014/main" id="{752FC782-A372-4D11-B20D-958955E564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2" name="Freeform 19">
              <a:extLst>
                <a:ext uri="{FF2B5EF4-FFF2-40B4-BE49-F238E27FC236}">
                  <a16:creationId xmlns:a16="http://schemas.microsoft.com/office/drawing/2014/main" id="{AA00B2F1-BEE2-444A-8249-C8E3212CA1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8014" y="468286"/>
              <a:ext cx="1768475" cy="4262464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3" name="Freeform 20">
              <a:extLst>
                <a:ext uri="{FF2B5EF4-FFF2-40B4-BE49-F238E27FC236}">
                  <a16:creationId xmlns:a16="http://schemas.microsoft.com/office/drawing/2014/main" id="{E7F5747E-514B-4CF7-B6B0-DAD71490978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4" name="Freeform 21">
              <a:extLst>
                <a:ext uri="{FF2B5EF4-FFF2-40B4-BE49-F238E27FC236}">
                  <a16:creationId xmlns:a16="http://schemas.microsoft.com/office/drawing/2014/main" id="{931614BB-1593-40ED-8113-2BD11870556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5" name="Freeform 22">
              <a:extLst>
                <a:ext uri="{FF2B5EF4-FFF2-40B4-BE49-F238E27FC236}">
                  <a16:creationId xmlns:a16="http://schemas.microsoft.com/office/drawing/2014/main" id="{2691871F-F15C-4E19-BC9C-78E5748D74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8077" y="1318591"/>
            <a:ext cx="4350697" cy="287326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>
              <a:lnSpc>
                <a:spcPct val="90000"/>
              </a:lnSpc>
            </a:pPr>
            <a:r>
              <a:rPr lang="en-US" sz="4800" dirty="0">
                <a:solidFill>
                  <a:schemeClr val="tx2">
                    <a:lumMod val="75000"/>
                  </a:schemeClr>
                </a:solidFill>
              </a:rPr>
              <a:t>Interest Rate Benchmarks &amp; Derivatives</a:t>
            </a:r>
          </a:p>
        </p:txBody>
      </p: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34D43EC1-35FA-4FC3-8526-F655CEB09D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652897" y="1871831"/>
            <a:ext cx="0" cy="3200400"/>
          </a:xfrm>
          <a:prstGeom prst="line">
            <a:avLst/>
          </a:prstGeom>
          <a:ln w="15875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A8268B04-8DCE-E389-A350-FE9188CF66CF}"/>
              </a:ext>
            </a:extLst>
          </p:cNvPr>
          <p:cNvSpPr txBox="1"/>
          <p:nvPr/>
        </p:nvSpPr>
        <p:spPr>
          <a:xfrm>
            <a:off x="1787917" y="4212404"/>
            <a:ext cx="35408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By Heiley Wong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FF2418-74BC-FB81-CAB5-6F8E33D869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AF866A-94AC-7306-3225-4849AB10AA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42415" y="1273997"/>
            <a:ext cx="6591985" cy="463722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 </a:t>
            </a:r>
          </a:p>
          <a:p>
            <a:r>
              <a:rPr lang="en-GB" b="1" dirty="0"/>
              <a:t>Part 1: Benchmark Rates in Transition</a:t>
            </a:r>
            <a:endParaRPr lang="en-GB" dirty="0"/>
          </a:p>
          <a:p>
            <a:pPr lvl="1"/>
            <a:r>
              <a:rPr lang="en-GB" dirty="0"/>
              <a:t>Fed Funds Rate vs. SOFR: The USD Revolution</a:t>
            </a:r>
          </a:p>
          <a:p>
            <a:pPr lvl="1"/>
            <a:r>
              <a:rPr lang="en-GB" dirty="0"/>
              <a:t>EONIA vs. €STR: The EUR Reform</a:t>
            </a:r>
          </a:p>
          <a:p>
            <a:r>
              <a:rPr lang="en-GB" b="1" dirty="0"/>
              <a:t>Part 2: Core Interest Rate Derivatives</a:t>
            </a:r>
            <a:endParaRPr lang="en-GB" dirty="0"/>
          </a:p>
          <a:p>
            <a:pPr lvl="1"/>
            <a:r>
              <a:rPr lang="en-GB" dirty="0"/>
              <a:t>Focus: SOFR &amp; EURIBOR/€STR Futures</a:t>
            </a:r>
          </a:p>
          <a:p>
            <a:pPr lvl="1"/>
            <a:r>
              <a:rPr lang="en-GB" dirty="0"/>
              <a:t>Pricing, Settlement, Margining, and Risk Metrics (DV01)</a:t>
            </a:r>
          </a:p>
          <a:p>
            <a:r>
              <a:rPr lang="en-GB" b="1" dirty="0"/>
              <a:t>Part 3: Market Outlook &amp; Strategic Toolkit</a:t>
            </a:r>
            <a:endParaRPr lang="en-GB" dirty="0"/>
          </a:p>
          <a:p>
            <a:pPr lvl="1"/>
            <a:r>
              <a:rPr lang="en-GB" dirty="0"/>
              <a:t>Macro Outlook: Next 6-12 Months</a:t>
            </a:r>
          </a:p>
          <a:p>
            <a:pPr lvl="1"/>
            <a:r>
              <a:rPr lang="en-GB" dirty="0"/>
              <a:t>Applying Derivatives to Express Views</a:t>
            </a:r>
          </a:p>
          <a:p>
            <a:r>
              <a:rPr lang="en-GB" b="1" dirty="0"/>
              <a:t>Appendix:</a:t>
            </a:r>
            <a:r>
              <a:rPr lang="en-GB" dirty="0"/>
              <a:t> Key Terminology &amp; Resources</a:t>
            </a:r>
            <a:endParaRPr lang="en-US" dirty="0"/>
          </a:p>
          <a:p>
            <a:endParaRPr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0A4A91CF-5DE1-ECD3-6A1D-8B0FF5898D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Content</a:t>
            </a:r>
          </a:p>
        </p:txBody>
      </p:sp>
    </p:spTree>
    <p:extLst>
      <p:ext uri="{BB962C8B-B14F-4D97-AF65-F5344CB8AC3E}">
        <p14:creationId xmlns:p14="http://schemas.microsoft.com/office/powerpoint/2010/main" val="23090717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b="1" dirty="0"/>
              <a:t>The Old vs. The New: Why Benchmarks Matter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b="1" dirty="0"/>
              <a:t>The Old World (IBORs):</a:t>
            </a:r>
            <a:r>
              <a:rPr lang="en-GB" dirty="0"/>
              <a:t> Forward-looking, credit-sensitive, "bank-offered" rates (e.g., LIBOR, EONIA). Prone to manipulation.</a:t>
            </a:r>
          </a:p>
          <a:p>
            <a:r>
              <a:rPr lang="en-GB" b="1" dirty="0"/>
              <a:t>The New World (RFRs):</a:t>
            </a:r>
            <a:r>
              <a:rPr lang="en-GB" dirty="0"/>
              <a:t> Backward-looking, nearly risk-free, transaction-based "secured" rates (e.g., SOFR, €STR). More robust and transparent.</a:t>
            </a:r>
          </a:p>
          <a:p>
            <a:r>
              <a:rPr lang="en-GB" b="1" dirty="0"/>
              <a:t>The "Big Bang":</a:t>
            </a:r>
            <a:r>
              <a:rPr lang="en-GB" dirty="0"/>
              <a:t> Regulatory mandates forced a global shift post-2008/2012 scandals.</a:t>
            </a:r>
          </a:p>
          <a:p>
            <a:r>
              <a:rPr lang="en-GB" b="1" dirty="0"/>
              <a:t>Impact:</a:t>
            </a:r>
            <a:r>
              <a:rPr lang="en-GB" dirty="0"/>
              <a:t> Every loan, derivative, and bond referencing an old benchmark had to transition.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b="1" dirty="0"/>
              <a:t>PART 1: BENCHMARK RATES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GB" b="1" dirty="0"/>
              <a:t>The Federal Funds Rate</a:t>
            </a:r>
          </a:p>
          <a:p>
            <a:r>
              <a:rPr lang="en-GB" b="1" dirty="0"/>
              <a:t>What it is:</a:t>
            </a:r>
            <a:r>
              <a:rPr lang="en-GB" dirty="0"/>
              <a:t> The target interest rate set by the FOMC for overnight, unsecured loans between U.S. depository institutions.</a:t>
            </a:r>
          </a:p>
          <a:p>
            <a:r>
              <a:rPr lang="en-GB" b="1" dirty="0"/>
              <a:t>Key Features:</a:t>
            </a:r>
            <a:endParaRPr lang="en-GB" dirty="0"/>
          </a:p>
          <a:p>
            <a:pPr lvl="1"/>
            <a:r>
              <a:rPr lang="en-GB" dirty="0"/>
              <a:t>An </a:t>
            </a:r>
            <a:r>
              <a:rPr lang="en-GB" b="1" dirty="0"/>
              <a:t>administered rate</a:t>
            </a:r>
            <a:r>
              <a:rPr lang="en-GB" dirty="0"/>
              <a:t> (set by the Fed).</a:t>
            </a:r>
          </a:p>
          <a:p>
            <a:pPr lvl="1"/>
            <a:r>
              <a:rPr lang="en-GB" dirty="0"/>
              <a:t>The primary tool of </a:t>
            </a:r>
            <a:r>
              <a:rPr lang="en-GB" b="1" dirty="0"/>
              <a:t>U.S. monetary policy</a:t>
            </a:r>
            <a:r>
              <a:rPr lang="en-GB" dirty="0"/>
              <a:t>.</a:t>
            </a:r>
          </a:p>
          <a:p>
            <a:pPr lvl="1"/>
            <a:r>
              <a:rPr lang="en-GB" dirty="0"/>
              <a:t>Influences all other short-term rates, financial conditions, and the economy.</a:t>
            </a:r>
          </a:p>
          <a:p>
            <a:r>
              <a:rPr lang="en-GB" b="1" dirty="0"/>
              <a:t>Mechanics:</a:t>
            </a:r>
            <a:r>
              <a:rPr lang="en-GB" dirty="0"/>
              <a:t> Fed uses Open Market Operations (OMO) and IOER/ON RRP to keep the </a:t>
            </a:r>
            <a:r>
              <a:rPr lang="en-GB" i="1" dirty="0"/>
              <a:t>Effective Fed Funds Rate</a:t>
            </a:r>
            <a:r>
              <a:rPr lang="en-GB" dirty="0"/>
              <a:t> within the target range.</a:t>
            </a:r>
          </a:p>
          <a:p>
            <a:endParaRPr lang="en-GB" b="1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b="1" dirty="0"/>
              <a:t>Secured Overnight Financing Rate (SOFR)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GB" b="1" dirty="0"/>
              <a:t>What it is:</a:t>
            </a:r>
            <a:r>
              <a:rPr lang="en-GB" dirty="0"/>
              <a:t> A broad measure of the cost of borrowing cash overnight, collateralized by U.S. Treasury securities.</a:t>
            </a:r>
          </a:p>
          <a:p>
            <a:r>
              <a:rPr lang="en-GB" b="1" dirty="0"/>
              <a:t>Key Features:</a:t>
            </a:r>
            <a:endParaRPr lang="en-GB" dirty="0"/>
          </a:p>
          <a:p>
            <a:pPr lvl="1"/>
            <a:r>
              <a:rPr lang="en-GB" dirty="0"/>
              <a:t>A </a:t>
            </a:r>
            <a:r>
              <a:rPr lang="en-GB" b="1" dirty="0"/>
              <a:t>market-transaction rate</a:t>
            </a:r>
            <a:r>
              <a:rPr lang="en-GB" dirty="0"/>
              <a:t> (calculated daily by the NY Fed).</a:t>
            </a:r>
          </a:p>
          <a:p>
            <a:pPr lvl="1"/>
            <a:r>
              <a:rPr lang="en-GB" dirty="0"/>
              <a:t>Based on a massive market (~$1 trillion daily in repo transactions).</a:t>
            </a:r>
          </a:p>
          <a:p>
            <a:pPr lvl="1"/>
            <a:r>
              <a:rPr lang="en-GB" dirty="0"/>
              <a:t>Considered a "</a:t>
            </a:r>
            <a:r>
              <a:rPr lang="en-GB" b="1" dirty="0"/>
              <a:t>risk-free rate</a:t>
            </a:r>
            <a:r>
              <a:rPr lang="en-GB" dirty="0"/>
              <a:t>" (RFR) due to Treasury collateral.</a:t>
            </a:r>
          </a:p>
          <a:p>
            <a:r>
              <a:rPr lang="en-GB" b="1" dirty="0"/>
              <a:t>Why it Replaces LIBOR:</a:t>
            </a:r>
            <a:r>
              <a:rPr lang="en-GB" dirty="0"/>
              <a:t> More resilient, transparent, and based on deep, active markets.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0ACC60-B0F6-3C49-36CC-877B96B784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34D648-7D12-CB12-354C-E1EEDC5BCB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b="1" dirty="0"/>
              <a:t>Fed Funds vs. SOFR: A Critical Comparison</a:t>
            </a:r>
            <a:endParaRPr lang="en-GB" b="1" dirty="0"/>
          </a:p>
        </p:txBody>
      </p:sp>
      <p:graphicFrame>
        <p:nvGraphicFramePr>
          <p:cNvPr id="6" name="Content Placeholder 6">
            <a:extLst>
              <a:ext uri="{FF2B5EF4-FFF2-40B4-BE49-F238E27FC236}">
                <a16:creationId xmlns:a16="http://schemas.microsoft.com/office/drawing/2014/main" id="{FBF40043-D2E4-ECB1-81A4-F46622782EC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92165497"/>
              </p:ext>
            </p:extLst>
          </p:nvPr>
        </p:nvGraphicFramePr>
        <p:xfrm>
          <a:off x="1127572" y="1905000"/>
          <a:ext cx="6888856" cy="4394202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2242864">
                  <a:extLst>
                    <a:ext uri="{9D8B030D-6E8A-4147-A177-3AD203B41FA5}">
                      <a16:colId xmlns:a16="http://schemas.microsoft.com/office/drawing/2014/main" val="1357072362"/>
                    </a:ext>
                  </a:extLst>
                </a:gridCol>
                <a:gridCol w="2369767">
                  <a:extLst>
                    <a:ext uri="{9D8B030D-6E8A-4147-A177-3AD203B41FA5}">
                      <a16:colId xmlns:a16="http://schemas.microsoft.com/office/drawing/2014/main" val="1377143341"/>
                    </a:ext>
                  </a:extLst>
                </a:gridCol>
                <a:gridCol w="2276225">
                  <a:extLst>
                    <a:ext uri="{9D8B030D-6E8A-4147-A177-3AD203B41FA5}">
                      <a16:colId xmlns:a16="http://schemas.microsoft.com/office/drawing/2014/main" val="4173742029"/>
                    </a:ext>
                  </a:extLst>
                </a:gridCol>
              </a:tblGrid>
              <a:tr h="544326"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GB" sz="1700" b="1" cap="none" spc="0" dirty="0">
                          <a:solidFill>
                            <a:schemeClr val="bg1"/>
                          </a:solidFill>
                          <a:effectLst/>
                          <a:latin typeface="quote-cjk-patch"/>
                        </a:rPr>
                        <a:t>Feature</a:t>
                      </a:r>
                    </a:p>
                  </a:txBody>
                  <a:tcPr marL="77882" marR="55630" marT="111260" marB="111260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GB" sz="1700" b="1" cap="none" spc="0" dirty="0">
                          <a:solidFill>
                            <a:schemeClr val="bg1"/>
                          </a:solidFill>
                          <a:effectLst/>
                          <a:latin typeface="quote-cjk-patch"/>
                        </a:rPr>
                        <a:t>Fed Funds Rate</a:t>
                      </a:r>
                    </a:p>
                  </a:txBody>
                  <a:tcPr marL="77882" marR="55630" marT="111260" marB="111260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GB" sz="1700" b="1" cap="none" spc="0">
                          <a:solidFill>
                            <a:schemeClr val="bg1"/>
                          </a:solidFill>
                          <a:effectLst/>
                          <a:latin typeface="quote-cjk-patch"/>
                        </a:rPr>
                        <a:t>SOFR</a:t>
                      </a:r>
                    </a:p>
                  </a:txBody>
                  <a:tcPr marL="77882" marR="55630" marT="111260" marB="111260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7963562"/>
                  </a:ext>
                </a:extLst>
              </a:tr>
              <a:tr h="828696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GB" sz="1500" b="1" cap="none" spc="0" dirty="0">
                          <a:solidFill>
                            <a:schemeClr val="tx1"/>
                          </a:solidFill>
                          <a:effectLst/>
                          <a:latin typeface="quote-cjk-patch"/>
                        </a:rPr>
                        <a:t>Nature</a:t>
                      </a:r>
                      <a:endParaRPr lang="en-GB" sz="1500" b="0" cap="none" spc="0" dirty="0">
                        <a:solidFill>
                          <a:schemeClr val="tx1"/>
                        </a:solidFill>
                        <a:effectLst/>
                        <a:latin typeface="quote-cjk-patch"/>
                      </a:endParaRPr>
                    </a:p>
                  </a:txBody>
                  <a:tcPr marL="77882" marR="55630" marT="110140" marB="11126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GB" sz="1500" b="0" cap="none" spc="0">
                          <a:solidFill>
                            <a:schemeClr val="tx1"/>
                          </a:solidFill>
                          <a:effectLst/>
                          <a:latin typeface="quote-cjk-patch"/>
                        </a:rPr>
                        <a:t>Unsecured (Bank Credit Risk)</a:t>
                      </a:r>
                    </a:p>
                  </a:txBody>
                  <a:tcPr marL="77882" marR="55630" marT="110140" marB="11126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GB" sz="1500" b="1" cap="none" spc="0">
                          <a:solidFill>
                            <a:schemeClr val="tx1"/>
                          </a:solidFill>
                          <a:effectLst/>
                          <a:latin typeface="quote-cjk-patch"/>
                        </a:rPr>
                        <a:t>Secured</a:t>
                      </a:r>
                      <a:r>
                        <a:rPr lang="en-GB" sz="1500" b="0" cap="none" spc="0">
                          <a:solidFill>
                            <a:schemeClr val="tx1"/>
                          </a:solidFill>
                          <a:effectLst/>
                          <a:latin typeface="quote-cjk-patch"/>
                        </a:rPr>
                        <a:t> (Treasury Collateral)</a:t>
                      </a:r>
                    </a:p>
                  </a:txBody>
                  <a:tcPr marL="77882" marR="55630" marT="110140" marB="11126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40065868"/>
                  </a:ext>
                </a:extLst>
              </a:tr>
              <a:tr h="828696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GB" sz="1500" b="1" cap="none" spc="0">
                          <a:solidFill>
                            <a:schemeClr val="tx1"/>
                          </a:solidFill>
                          <a:effectLst/>
                          <a:latin typeface="quote-cjk-patch"/>
                        </a:rPr>
                        <a:t>Participants</a:t>
                      </a:r>
                      <a:endParaRPr lang="en-GB" sz="1500" b="0" cap="none" spc="0">
                        <a:solidFill>
                          <a:schemeClr val="tx1"/>
                        </a:solidFill>
                        <a:effectLst/>
                        <a:latin typeface="quote-cjk-patch"/>
                      </a:endParaRPr>
                    </a:p>
                  </a:txBody>
                  <a:tcPr marL="77882" marR="55630" marT="110140" marB="11126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GB" sz="1500" b="0" cap="none" spc="0">
                          <a:solidFill>
                            <a:schemeClr val="tx1"/>
                          </a:solidFill>
                          <a:effectLst/>
                          <a:latin typeface="quote-cjk-patch"/>
                        </a:rPr>
                        <a:t>Depository Institutions Only</a:t>
                      </a:r>
                    </a:p>
                  </a:txBody>
                  <a:tcPr marL="77882" marR="55630" marT="110140" marB="11126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GB" sz="1500" b="1" cap="none" spc="0">
                          <a:solidFill>
                            <a:schemeClr val="tx1"/>
                          </a:solidFill>
                          <a:effectLst/>
                          <a:latin typeface="quote-cjk-patch"/>
                        </a:rPr>
                        <a:t>Broad Market</a:t>
                      </a:r>
                      <a:r>
                        <a:rPr lang="en-GB" sz="1500" b="0" cap="none" spc="0">
                          <a:solidFill>
                            <a:schemeClr val="tx1"/>
                          </a:solidFill>
                          <a:effectLst/>
                          <a:latin typeface="quote-cjk-patch"/>
                        </a:rPr>
                        <a:t> (Banks, HFs, GSEs)</a:t>
                      </a:r>
                    </a:p>
                  </a:txBody>
                  <a:tcPr marL="77882" marR="55630" marT="110140" marB="11126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3449838"/>
                  </a:ext>
                </a:extLst>
              </a:tr>
              <a:tr h="535092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GB" sz="1500" b="1" cap="none" spc="0">
                          <a:solidFill>
                            <a:schemeClr val="tx1"/>
                          </a:solidFill>
                          <a:effectLst/>
                          <a:latin typeface="quote-cjk-patch"/>
                        </a:rPr>
                        <a:t>Determination</a:t>
                      </a:r>
                      <a:endParaRPr lang="en-GB" sz="1500" b="0" cap="none" spc="0">
                        <a:solidFill>
                          <a:schemeClr val="tx1"/>
                        </a:solidFill>
                        <a:effectLst/>
                        <a:latin typeface="quote-cjk-patch"/>
                      </a:endParaRPr>
                    </a:p>
                  </a:txBody>
                  <a:tcPr marL="77882" marR="55630" marT="110140" marB="11126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GB" sz="1500" b="0" cap="none" spc="0">
                          <a:solidFill>
                            <a:schemeClr val="tx1"/>
                          </a:solidFill>
                          <a:effectLst/>
                          <a:latin typeface="quote-cjk-patch"/>
                        </a:rPr>
                        <a:t>Administered (Policy Target)</a:t>
                      </a:r>
                    </a:p>
                  </a:txBody>
                  <a:tcPr marL="77882" marR="55630" marT="110140" marB="11126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GB" sz="1500" b="1" cap="none" spc="0">
                          <a:solidFill>
                            <a:schemeClr val="tx1"/>
                          </a:solidFill>
                          <a:effectLst/>
                          <a:latin typeface="quote-cjk-patch"/>
                        </a:rPr>
                        <a:t>Market Transaction-Based</a:t>
                      </a:r>
                      <a:endParaRPr lang="en-GB" sz="1500" b="0" cap="none" spc="0">
                        <a:solidFill>
                          <a:schemeClr val="tx1"/>
                        </a:solidFill>
                        <a:effectLst/>
                        <a:latin typeface="quote-cjk-patch"/>
                      </a:endParaRPr>
                    </a:p>
                  </a:txBody>
                  <a:tcPr marL="77882" marR="55630" marT="110140" marB="11126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07925695"/>
                  </a:ext>
                </a:extLst>
              </a:tr>
              <a:tr h="828696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GB" sz="1500" b="1" cap="none" spc="0">
                          <a:solidFill>
                            <a:schemeClr val="tx1"/>
                          </a:solidFill>
                          <a:effectLst/>
                          <a:latin typeface="quote-cjk-patch"/>
                        </a:rPr>
                        <a:t>Volatility</a:t>
                      </a:r>
                      <a:endParaRPr lang="en-GB" sz="1500" b="0" cap="none" spc="0">
                        <a:solidFill>
                          <a:schemeClr val="tx1"/>
                        </a:solidFill>
                        <a:effectLst/>
                        <a:latin typeface="quote-cjk-patch"/>
                      </a:endParaRPr>
                    </a:p>
                  </a:txBody>
                  <a:tcPr marL="77882" marR="55630" marT="110140" marB="11126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GB" sz="1500" b="0" cap="none" spc="0">
                          <a:solidFill>
                            <a:schemeClr val="tx1"/>
                          </a:solidFill>
                          <a:effectLst/>
                          <a:latin typeface="quote-cjk-patch"/>
                        </a:rPr>
                        <a:t>Low (Fed-managed)</a:t>
                      </a:r>
                    </a:p>
                  </a:txBody>
                  <a:tcPr marL="77882" marR="55630" marT="110140" marB="11126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GB" sz="1500" b="1" cap="none" spc="0">
                          <a:solidFill>
                            <a:schemeClr val="tx1"/>
                          </a:solidFill>
                          <a:effectLst/>
                          <a:latin typeface="quote-cjk-patch"/>
                        </a:rPr>
                        <a:t>Can spike</a:t>
                      </a:r>
                      <a:r>
                        <a:rPr lang="en-GB" sz="1500" b="0" cap="none" spc="0">
                          <a:solidFill>
                            <a:schemeClr val="tx1"/>
                          </a:solidFill>
                          <a:effectLst/>
                          <a:latin typeface="quote-cjk-patch"/>
                        </a:rPr>
                        <a:t> (e.g., quarter-ends, crises)</a:t>
                      </a:r>
                    </a:p>
                  </a:txBody>
                  <a:tcPr marL="77882" marR="55630" marT="110140" marB="11126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34488003"/>
                  </a:ext>
                </a:extLst>
              </a:tr>
              <a:tr h="828696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GB" sz="1500" b="1" cap="none" spc="0">
                          <a:solidFill>
                            <a:schemeClr val="tx1"/>
                          </a:solidFill>
                          <a:effectLst/>
                          <a:latin typeface="quote-cjk-patch"/>
                        </a:rPr>
                        <a:t>Primary Role</a:t>
                      </a:r>
                      <a:endParaRPr lang="en-GB" sz="1500" b="0" cap="none" spc="0">
                        <a:solidFill>
                          <a:schemeClr val="tx1"/>
                        </a:solidFill>
                        <a:effectLst/>
                        <a:latin typeface="quote-cjk-patch"/>
                      </a:endParaRPr>
                    </a:p>
                  </a:txBody>
                  <a:tcPr marL="77882" marR="55630" marT="110140" marB="11126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GB" sz="1500" b="1" cap="none" spc="0">
                          <a:solidFill>
                            <a:schemeClr val="tx1"/>
                          </a:solidFill>
                          <a:effectLst/>
                          <a:latin typeface="quote-cjk-patch"/>
                        </a:rPr>
                        <a:t>Monetary Policy Signal</a:t>
                      </a:r>
                      <a:endParaRPr lang="en-GB" sz="1500" b="0" cap="none" spc="0">
                        <a:solidFill>
                          <a:schemeClr val="tx1"/>
                        </a:solidFill>
                        <a:effectLst/>
                        <a:latin typeface="quote-cjk-patch"/>
                      </a:endParaRPr>
                    </a:p>
                  </a:txBody>
                  <a:tcPr marL="77882" marR="55630" marT="110140" marB="11126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GB" sz="1500" b="1" cap="none" spc="0" dirty="0">
                          <a:solidFill>
                            <a:schemeClr val="tx1"/>
                          </a:solidFill>
                          <a:effectLst/>
                          <a:latin typeface="quote-cjk-patch"/>
                        </a:rPr>
                        <a:t>Benchmark for Financial Contracts</a:t>
                      </a:r>
                      <a:endParaRPr lang="en-GB" sz="1500" b="0" cap="none" spc="0" dirty="0">
                        <a:solidFill>
                          <a:schemeClr val="tx1"/>
                        </a:solidFill>
                        <a:effectLst/>
                        <a:latin typeface="quote-cjk-patch"/>
                      </a:endParaRPr>
                    </a:p>
                  </a:txBody>
                  <a:tcPr marL="77882" marR="55630" marT="110140" marB="11126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107414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718093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b="1" dirty="0"/>
              <a:t>The EUR Landscape: EURIBOR &amp; €STR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b="1" dirty="0"/>
              <a:t>€STR (Euro Short-Term Rate):</a:t>
            </a:r>
            <a:r>
              <a:rPr lang="en-GB" dirty="0"/>
              <a:t> The euro RFR. The wholesale euro unsecured overnight borrowing cost for banks in the euro area. Published daily by the ECB. </a:t>
            </a:r>
            <a:r>
              <a:rPr lang="en-GB" b="1" dirty="0"/>
              <a:t>Replaced EONIA</a:t>
            </a:r>
            <a:r>
              <a:rPr lang="en-GB" dirty="0"/>
              <a:t> in 2019.</a:t>
            </a:r>
          </a:p>
          <a:p>
            <a:r>
              <a:rPr lang="en-GB" b="1" dirty="0"/>
              <a:t>EURIBOR:</a:t>
            </a:r>
            <a:r>
              <a:rPr lang="en-GB" dirty="0"/>
              <a:t> The Euro Interbank Offered Rate. A forward-looking term rate for unsecured bank lending, published for 1-week to 12-month tenors. </a:t>
            </a:r>
            <a:r>
              <a:rPr lang="en-GB" b="1" dirty="0"/>
              <a:t>It has been reformed, not replaced.</a:t>
            </a:r>
            <a:r>
              <a:rPr lang="en-GB" dirty="0"/>
              <a:t> Now based on a hybrid methodology (transactions + expert judgment).</a:t>
            </a:r>
          </a:p>
          <a:p>
            <a:r>
              <a:rPr lang="en-GB" b="1" dirty="0"/>
              <a:t>Current State:</a:t>
            </a:r>
            <a:r>
              <a:rPr lang="en-GB" dirty="0"/>
              <a:t> €STR is the preferred RFR, but EURIBOR remains widely used in legacy and some new contracts (especially retail loans).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b="1" dirty="0"/>
              <a:t>PART 2: CORE DERIVATIVES &amp; MECHANICS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GB" b="1" dirty="0"/>
              <a:t>The Workhorse: SOFR Futures (CME)</a:t>
            </a:r>
          </a:p>
          <a:p>
            <a:r>
              <a:rPr lang="en-GB" b="1" dirty="0"/>
              <a:t>Contract:</a:t>
            </a:r>
            <a:r>
              <a:rPr lang="en-GB" dirty="0"/>
              <a:t> Trades on CME. Specifies a 3-month SOFR compounded rate for a future period.</a:t>
            </a:r>
          </a:p>
          <a:p>
            <a:r>
              <a:rPr lang="en-GB" b="1" dirty="0"/>
              <a:t>Quote:</a:t>
            </a:r>
            <a:r>
              <a:rPr lang="en-GB" dirty="0"/>
              <a:t> 100.00 minus the </a:t>
            </a:r>
            <a:r>
              <a:rPr lang="en-GB" b="1" dirty="0"/>
              <a:t>expected average compounded SOFR rate</a:t>
            </a:r>
            <a:r>
              <a:rPr lang="en-GB" dirty="0"/>
              <a:t> over the contract's reference quarter.</a:t>
            </a:r>
          </a:p>
          <a:p>
            <a:pPr lvl="1"/>
            <a:r>
              <a:rPr lang="en-GB" i="1" dirty="0"/>
              <a:t>Example: Price of 95.00 implies a 5.00% expected SOFR rate.</a:t>
            </a:r>
            <a:endParaRPr lang="en-GB" dirty="0"/>
          </a:p>
          <a:p>
            <a:r>
              <a:rPr lang="en-GB" b="1" dirty="0"/>
              <a:t>Volume &amp; Liquidity:</a:t>
            </a:r>
            <a:r>
              <a:rPr lang="en-GB" dirty="0"/>
              <a:t> The cornerstone of the short-term USD derivatives market.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b="1" dirty="0"/>
              <a:t>SOFR Futures: Pricing &amp; Settlement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b="1" dirty="0"/>
              <a:t>Pricing Method:</a:t>
            </a:r>
            <a:endParaRPr lang="en-GB" dirty="0"/>
          </a:p>
          <a:p>
            <a:pPr lvl="1"/>
            <a:r>
              <a:rPr lang="en-GB" dirty="0"/>
              <a:t>Futures price reflects market's expectation of the </a:t>
            </a:r>
            <a:r>
              <a:rPr lang="en-GB" b="1" dirty="0"/>
              <a:t>average daily compounded SOFR</a:t>
            </a:r>
            <a:r>
              <a:rPr lang="en-GB" dirty="0"/>
              <a:t> over the contract's specific 3-month period.</a:t>
            </a:r>
          </a:p>
          <a:p>
            <a:pPr lvl="1"/>
            <a:r>
              <a:rPr lang="en-GB" b="1" dirty="0"/>
              <a:t>Final Settlement Price = 100 - R</a:t>
            </a:r>
            <a:br>
              <a:rPr lang="en-GB" dirty="0"/>
            </a:br>
            <a:r>
              <a:rPr lang="en-GB" dirty="0"/>
              <a:t>Where </a:t>
            </a:r>
            <a:r>
              <a:rPr lang="en-GB" b="1" dirty="0"/>
              <a:t>R</a:t>
            </a:r>
            <a:r>
              <a:rPr lang="en-GB" dirty="0"/>
              <a:t> = the </a:t>
            </a:r>
            <a:r>
              <a:rPr lang="en-GB" i="1" dirty="0"/>
              <a:t>actual</a:t>
            </a:r>
            <a:r>
              <a:rPr lang="en-GB" dirty="0"/>
              <a:t> compounded SOFR rate over the contract reference quarter.</a:t>
            </a:r>
          </a:p>
          <a:p>
            <a:r>
              <a:rPr lang="en-GB" b="1" dirty="0"/>
              <a:t>Settlement Method:</a:t>
            </a:r>
            <a:endParaRPr lang="en-GB" dirty="0"/>
          </a:p>
          <a:p>
            <a:pPr lvl="1"/>
            <a:r>
              <a:rPr lang="en-GB" b="1" dirty="0"/>
              <a:t>Daily:</a:t>
            </a:r>
            <a:r>
              <a:rPr lang="en-GB" dirty="0"/>
              <a:t> Marked-to-market via variation margin.</a:t>
            </a:r>
          </a:p>
          <a:p>
            <a:pPr lvl="1"/>
            <a:r>
              <a:rPr lang="en-GB" b="1" dirty="0"/>
              <a:t>Final:</a:t>
            </a:r>
            <a:r>
              <a:rPr lang="en-GB" dirty="0"/>
              <a:t> Cash-settled based on the NY Fed's published compounded SOFR index values. No physical delivery.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b="1" dirty="0"/>
              <a:t>EUR Counterpart: €STR Futures (EUREX) &amp; EURIBOR Futures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b="1" dirty="0"/>
              <a:t>€STR Futures (EUREX):</a:t>
            </a:r>
            <a:r>
              <a:rPr lang="en-GB" dirty="0"/>
              <a:t> Direct EUR equivalent to SOFR futures. Tracks the compounded €STR rate over a set term (1m, 3m). Pricing/Settlement identical to SOFR futures.</a:t>
            </a:r>
          </a:p>
          <a:p>
            <a:r>
              <a:rPr lang="en-GB" b="1" dirty="0"/>
              <a:t>EURIBOR Futures (ICE):</a:t>
            </a:r>
            <a:r>
              <a:rPr lang="en-GB" dirty="0"/>
              <a:t> The legacy/reformed benchmark contract. Tracks 3-month EURIBOR (e.g., Jun24 contract tracks the rate for June-Sep 2024). Still highly liquid.</a:t>
            </a:r>
          </a:p>
          <a:p>
            <a:r>
              <a:rPr lang="en-GB" b="1" dirty="0"/>
              <a:t>Strategic Choice:</a:t>
            </a:r>
            <a:r>
              <a:rPr lang="en-GB" dirty="0"/>
              <a:t> Use </a:t>
            </a:r>
            <a:r>
              <a:rPr lang="en-GB" b="1" dirty="0"/>
              <a:t>€STR futures</a:t>
            </a:r>
            <a:r>
              <a:rPr lang="en-GB" dirty="0"/>
              <a:t> for pure policy/rate exposure; use </a:t>
            </a:r>
            <a:r>
              <a:rPr lang="en-GB" b="1" dirty="0"/>
              <a:t>EURIBOR</a:t>
            </a:r>
            <a:r>
              <a:rPr lang="en-GB" dirty="0"/>
              <a:t> for basis trades or specific legacy exposures.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b="1" dirty="0"/>
              <a:t>Margin Requirements: SPAN &amp; </a:t>
            </a:r>
            <a:r>
              <a:rPr lang="en-GB" b="1" dirty="0" err="1"/>
              <a:t>VaR</a:t>
            </a:r>
            <a:r>
              <a:rPr lang="en-GB" b="1" dirty="0"/>
              <a:t>-Based Models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GB" b="1" dirty="0"/>
              <a:t>Standard Portfolio Analysis of Risk (SPAN):</a:t>
            </a:r>
            <a:r>
              <a:rPr lang="en-GB" dirty="0"/>
              <a:t> Used by CME, EUREX, ICE. The industry standard.</a:t>
            </a:r>
          </a:p>
          <a:p>
            <a:pPr lvl="1"/>
            <a:r>
              <a:rPr lang="en-GB" dirty="0"/>
              <a:t>Simulates portfolio gains/losses under </a:t>
            </a:r>
            <a:r>
              <a:rPr lang="en-GB" b="1" dirty="0"/>
              <a:t>16 risk scenarios</a:t>
            </a:r>
            <a:r>
              <a:rPr lang="en-GB" dirty="0"/>
              <a:t> (price moves, volatility changes, etc.).</a:t>
            </a:r>
          </a:p>
          <a:p>
            <a:pPr lvl="1"/>
            <a:r>
              <a:rPr lang="en-GB" dirty="0"/>
              <a:t>Calculates a </a:t>
            </a:r>
            <a:r>
              <a:rPr lang="en-GB" b="1" dirty="0"/>
              <a:t>total margin requirement</a:t>
            </a:r>
            <a:r>
              <a:rPr lang="en-GB" dirty="0"/>
              <a:t> covering 1-day risk for 99% of scenarios.</a:t>
            </a:r>
          </a:p>
          <a:p>
            <a:pPr lvl="1"/>
            <a:r>
              <a:rPr lang="en-GB" dirty="0"/>
              <a:t>Net benefits for </a:t>
            </a:r>
            <a:r>
              <a:rPr lang="en-GB" b="1" dirty="0"/>
              <a:t>portfolio offset</a:t>
            </a:r>
            <a:r>
              <a:rPr lang="en-GB" dirty="0"/>
              <a:t> (e.g., long one contract, short another reduces total margin).</a:t>
            </a:r>
          </a:p>
          <a:p>
            <a:r>
              <a:rPr lang="en-GB" b="1" dirty="0"/>
              <a:t>Initial vs. Maintenance Margin:</a:t>
            </a:r>
            <a:r>
              <a:rPr lang="en-GB" dirty="0"/>
              <a:t> Initial is the deposit to enter; maintenance is the minimum equity before a margin call.</a:t>
            </a:r>
          </a:p>
          <a:p>
            <a:r>
              <a:rPr lang="en-GB" b="1" dirty="0"/>
              <a:t>Clearing House Role:</a:t>
            </a:r>
            <a:r>
              <a:rPr lang="en-GB" dirty="0"/>
              <a:t> Central counterparty (CCP) manages the system and mutualizes risk.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The Universal Risk Metric: DV01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GB" b="1" dirty="0"/>
              <a:t>Definition:</a:t>
            </a:r>
            <a:r>
              <a:rPr lang="en-GB" dirty="0"/>
              <a:t> </a:t>
            </a:r>
            <a:r>
              <a:rPr lang="en-GB" b="1" dirty="0"/>
              <a:t>Dollar Value of a 01 basis point move</a:t>
            </a:r>
            <a:r>
              <a:rPr lang="en-GB" dirty="0"/>
              <a:t>. The change in a portfolio's value for a 0.01% (1 bp) parallel shift in the benchmark interest rate.</a:t>
            </a:r>
          </a:p>
          <a:p>
            <a:r>
              <a:rPr lang="en-GB" b="1" dirty="0"/>
              <a:t>Why it's Critical:</a:t>
            </a:r>
            <a:r>
              <a:rPr lang="en-GB" dirty="0"/>
              <a:t> Normalizes risk across different instruments (futures, swaps, bonds). Allows for direct comparison and precise hedging.</a:t>
            </a:r>
          </a:p>
          <a:p>
            <a:r>
              <a:rPr lang="en-GB" b="1" dirty="0"/>
              <a:t>Calculation for Futures:</a:t>
            </a:r>
            <a:endParaRPr lang="en-GB" dirty="0"/>
          </a:p>
          <a:p>
            <a:pPr lvl="1"/>
            <a:r>
              <a:rPr lang="en-GB" dirty="0"/>
              <a:t>DV01 ≈ (Contract Notional) × (Convexity-adjusted Duration) × 0.0001</a:t>
            </a:r>
          </a:p>
          <a:p>
            <a:pPr lvl="1"/>
            <a:r>
              <a:rPr lang="en-GB" b="1" dirty="0"/>
              <a:t>Simplified for STIR Futures:</a:t>
            </a:r>
            <a:r>
              <a:rPr lang="en-GB" dirty="0"/>
              <a:t> A 1 bp (0.01%) rate change causes a </a:t>
            </a:r>
            <a:r>
              <a:rPr lang="en-GB" b="1" dirty="0"/>
              <a:t>$25 P&amp;L change</a:t>
            </a:r>
            <a:r>
              <a:rPr lang="en-GB" dirty="0"/>
              <a:t> per 3-month contract on a ~$1M notional.</a:t>
            </a:r>
          </a:p>
          <a:p>
            <a:pPr lvl="2"/>
            <a:r>
              <a:rPr lang="en-GB" dirty="0"/>
              <a:t>$1,000,000 × (3/12) × 0.0001 = $25</a:t>
            </a:r>
          </a:p>
          <a:p>
            <a:r>
              <a:rPr lang="en-GB" b="1" dirty="0"/>
              <a:t>Application:</a:t>
            </a:r>
            <a:r>
              <a:rPr lang="en-GB" dirty="0"/>
              <a:t> A trader with a DV01 of +$50,000 will </a:t>
            </a:r>
            <a:r>
              <a:rPr lang="en-GB" b="1" dirty="0"/>
              <a:t>gain $50,000 if rates fall 1 bp</a:t>
            </a:r>
            <a:r>
              <a:rPr lang="en-GB" dirty="0"/>
              <a:t>, and </a:t>
            </a:r>
            <a:r>
              <a:rPr lang="en-GB" b="1" dirty="0"/>
              <a:t>lose $50,000 if rates rise 1 bp.</a:t>
            </a:r>
            <a:endParaRPr lang="en-GB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b="1" dirty="0"/>
              <a:t>PART 3: MARKET OUTLOOK &amp; TRADING STRATEGIES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GB" b="1" dirty="0"/>
              <a:t>Macroeconomic Backdrop: Next 6-12 Months</a:t>
            </a:r>
          </a:p>
          <a:p>
            <a:r>
              <a:rPr lang="en-GB" b="1" dirty="0"/>
              <a:t>Central Theme:</a:t>
            </a:r>
            <a:r>
              <a:rPr lang="en-GB" dirty="0"/>
              <a:t> </a:t>
            </a:r>
            <a:r>
              <a:rPr lang="en-GB" b="1" dirty="0"/>
              <a:t>"Higher-for-Longer" vs. "Dovish Pivot"</a:t>
            </a:r>
            <a:endParaRPr lang="en-GB" dirty="0"/>
          </a:p>
          <a:p>
            <a:r>
              <a:rPr lang="en-GB" b="1" dirty="0"/>
              <a:t>Fed Outlook:</a:t>
            </a:r>
            <a:r>
              <a:rPr lang="en-GB" dirty="0"/>
              <a:t> Terminal rate likely reached (5.25-5.50%). Focus shifts to duration at peak. Data-dependent. First cut expected Q2/Q3 2024 if inflation cools sustainably.</a:t>
            </a:r>
          </a:p>
          <a:p>
            <a:r>
              <a:rPr lang="en-GB" b="1" dirty="0"/>
              <a:t>ECB Outlook:</a:t>
            </a:r>
            <a:r>
              <a:rPr lang="en-GB" dirty="0"/>
              <a:t> More nuanced. Growth weaker, but inflation stickier (services, wages). May hold rates high slightly longer but cuts likely in 2024.</a:t>
            </a:r>
          </a:p>
          <a:p>
            <a:r>
              <a:rPr lang="en-GB" b="1" dirty="0"/>
              <a:t>Key Risks:</a:t>
            </a:r>
            <a:r>
              <a:rPr lang="en-GB" dirty="0"/>
              <a:t> Inflation persistence, geopolitical shocks, lagged effect of prior hikes causing recession.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b="1" dirty="0"/>
              <a:t>Trading Strategy 1: Expressing a Directional 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b="1" dirty="0"/>
              <a:t>View: "Rates will fall sooner/faster than market expects." (Dovish)</a:t>
            </a:r>
            <a:endParaRPr lang="en-GB" dirty="0"/>
          </a:p>
          <a:p>
            <a:pPr lvl="1"/>
            <a:r>
              <a:rPr lang="en-GB" b="1" dirty="0"/>
              <a:t>Action:</a:t>
            </a:r>
            <a:r>
              <a:rPr lang="en-GB" dirty="0"/>
              <a:t> </a:t>
            </a:r>
            <a:r>
              <a:rPr lang="en-GB" b="1" dirty="0"/>
              <a:t>Buy / Go Long</a:t>
            </a:r>
            <a:r>
              <a:rPr lang="en-GB" dirty="0"/>
              <a:t> SOFR or €STR Futures.</a:t>
            </a:r>
          </a:p>
          <a:p>
            <a:pPr lvl="1"/>
            <a:r>
              <a:rPr lang="en-GB" b="1" dirty="0"/>
              <a:t>Mechanism:</a:t>
            </a:r>
            <a:r>
              <a:rPr lang="en-GB" dirty="0"/>
              <a:t> If rates fall, the futures price (100 - Rate) rises.</a:t>
            </a:r>
          </a:p>
          <a:p>
            <a:pPr lvl="1"/>
            <a:r>
              <a:rPr lang="en-GB" b="1" dirty="0"/>
              <a:t>Risk:</a:t>
            </a:r>
            <a:r>
              <a:rPr lang="en-GB" dirty="0"/>
              <a:t> Rates stay high or rise; carry cost of position.</a:t>
            </a:r>
          </a:p>
          <a:p>
            <a:r>
              <a:rPr lang="en-GB" b="1" dirty="0"/>
              <a:t>View: "The market is too optimistic about cuts." (Hawkish)</a:t>
            </a:r>
            <a:endParaRPr lang="en-GB" dirty="0"/>
          </a:p>
          <a:p>
            <a:pPr lvl="1"/>
            <a:r>
              <a:rPr lang="en-GB" b="1" dirty="0"/>
              <a:t>Action:</a:t>
            </a:r>
            <a:r>
              <a:rPr lang="en-GB" dirty="0"/>
              <a:t> </a:t>
            </a:r>
            <a:r>
              <a:rPr lang="en-GB" b="1" dirty="0"/>
              <a:t>Sell / Go Short</a:t>
            </a:r>
            <a:r>
              <a:rPr lang="en-GB" dirty="0"/>
              <a:t> SOFR or €STR Futures.</a:t>
            </a:r>
          </a:p>
          <a:p>
            <a:pPr lvl="1"/>
            <a:r>
              <a:rPr lang="en-GB" b="1" dirty="0"/>
              <a:t>Mechanism:</a:t>
            </a:r>
            <a:r>
              <a:rPr lang="en-GB" dirty="0"/>
              <a:t> If rates stay high/rise, the futures price falls.</a:t>
            </a:r>
          </a:p>
          <a:p>
            <a:pPr lvl="1"/>
            <a:r>
              <a:rPr lang="en-GB" b="1" dirty="0"/>
              <a:t>Risk:</a:t>
            </a:r>
            <a:r>
              <a:rPr lang="en-GB" dirty="0"/>
              <a:t> Central banks cut aggressively.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b="1" dirty="0"/>
              <a:t>Trading Strategy 2: Curve Flatteners &amp; </a:t>
            </a:r>
            <a:r>
              <a:rPr lang="en-GB" b="1" dirty="0" err="1"/>
              <a:t>Steepeners</a:t>
            </a:r>
            <a:endParaRPr lang="en-GB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b="1" dirty="0"/>
              <a:t>What:</a:t>
            </a:r>
            <a:r>
              <a:rPr lang="en-GB" dirty="0"/>
              <a:t> Trade the </a:t>
            </a:r>
            <a:r>
              <a:rPr lang="en-GB" i="1" dirty="0"/>
              <a:t>spread</a:t>
            </a:r>
            <a:r>
              <a:rPr lang="en-GB" dirty="0"/>
              <a:t> between two contract dates (e.g., Dec23 vs. Dec24).</a:t>
            </a:r>
          </a:p>
          <a:p>
            <a:r>
              <a:rPr lang="en-GB" b="1" dirty="0"/>
              <a:t>Flattener (Near-Term View):</a:t>
            </a:r>
            <a:r>
              <a:rPr lang="en-GB" dirty="0"/>
              <a:t> Expect short-end rates to rise </a:t>
            </a:r>
            <a:r>
              <a:rPr lang="en-GB" i="1" dirty="0"/>
              <a:t>relative to</a:t>
            </a:r>
            <a:r>
              <a:rPr lang="en-GB" dirty="0"/>
              <a:t> long-end (or long-end to fall more).</a:t>
            </a:r>
          </a:p>
          <a:p>
            <a:pPr lvl="1"/>
            <a:r>
              <a:rPr lang="en-GB" b="1" dirty="0"/>
              <a:t>Trade:</a:t>
            </a:r>
            <a:r>
              <a:rPr lang="en-GB" dirty="0"/>
              <a:t> </a:t>
            </a:r>
            <a:r>
              <a:rPr lang="en-GB" b="1" dirty="0"/>
              <a:t>Sell near-dated futures &amp; Buy far-dated futures.</a:t>
            </a:r>
            <a:endParaRPr lang="en-GB" dirty="0"/>
          </a:p>
          <a:p>
            <a:r>
              <a:rPr lang="en-GB" b="1" dirty="0" err="1"/>
              <a:t>Steepener</a:t>
            </a:r>
            <a:r>
              <a:rPr lang="en-GB" b="1" dirty="0"/>
              <a:t> (Long-Term View):</a:t>
            </a:r>
            <a:r>
              <a:rPr lang="en-GB" dirty="0"/>
              <a:t> Expect short-end rates to fall </a:t>
            </a:r>
            <a:r>
              <a:rPr lang="en-GB" i="1" dirty="0"/>
              <a:t>relative to</a:t>
            </a:r>
            <a:r>
              <a:rPr lang="en-GB" dirty="0"/>
              <a:t> long-end (or long-end to rise more).</a:t>
            </a:r>
          </a:p>
          <a:p>
            <a:pPr lvl="1"/>
            <a:r>
              <a:rPr lang="en-GB" b="1" dirty="0"/>
              <a:t>Trade:</a:t>
            </a:r>
            <a:r>
              <a:rPr lang="en-GB" dirty="0"/>
              <a:t> </a:t>
            </a:r>
            <a:r>
              <a:rPr lang="en-GB" b="1" dirty="0"/>
              <a:t>Buy near-dated futures &amp; Sell far-dated futures.</a:t>
            </a:r>
            <a:endParaRPr lang="en-GB" dirty="0"/>
          </a:p>
          <a:p>
            <a:r>
              <a:rPr lang="en-GB" b="1" dirty="0"/>
              <a:t>Benefit:</a:t>
            </a:r>
            <a:r>
              <a:rPr lang="en-GB" dirty="0"/>
              <a:t> Expresses a relative view, less sensitive to outright directional moves.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b="1" dirty="0"/>
              <a:t>Trading Strategy 3: Basis Trades (SOFR vs. Fed Funds)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b="1" dirty="0"/>
              <a:t>Concept:</a:t>
            </a:r>
            <a:r>
              <a:rPr lang="en-GB" dirty="0"/>
              <a:t> Exploit the predictable spread between SOFR (secured) and Fed Funds (unsecured).</a:t>
            </a:r>
          </a:p>
          <a:p>
            <a:pPr lvl="1"/>
            <a:r>
              <a:rPr lang="en-GB" dirty="0"/>
              <a:t>SOFR is typically </a:t>
            </a:r>
            <a:r>
              <a:rPr lang="en-GB" b="1" dirty="0"/>
              <a:t>lower</a:t>
            </a:r>
            <a:r>
              <a:rPr lang="en-GB" dirty="0"/>
              <a:t> than Fed Funds (collateral advantage).</a:t>
            </a:r>
          </a:p>
          <a:p>
            <a:pPr lvl="1"/>
            <a:r>
              <a:rPr lang="en-GB" dirty="0"/>
              <a:t>The basis </a:t>
            </a:r>
            <a:r>
              <a:rPr lang="en-GB" b="1" dirty="0"/>
              <a:t>widens</a:t>
            </a:r>
            <a:r>
              <a:rPr lang="en-GB" dirty="0"/>
              <a:t> in times of stress (flight to quality/secured lending).</a:t>
            </a:r>
          </a:p>
          <a:p>
            <a:r>
              <a:rPr lang="en-GB" b="1" dirty="0"/>
              <a:t>Trade:</a:t>
            </a:r>
            <a:r>
              <a:rPr lang="en-GB" dirty="0"/>
              <a:t> If you expect money market stress, go long SOFR futures / short Fed Funds futures (or Fed Funds futures equivalents).</a:t>
            </a:r>
          </a:p>
          <a:p>
            <a:r>
              <a:rPr lang="en-GB" b="1" dirty="0"/>
              <a:t>EUR Version:</a:t>
            </a:r>
            <a:r>
              <a:rPr lang="en-GB" dirty="0"/>
              <a:t> Trade the €STR-EURIBOR basis.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Risk Management Reminders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b="1" dirty="0"/>
              <a:t>Leverage:</a:t>
            </a:r>
            <a:r>
              <a:rPr lang="en-GB" dirty="0"/>
              <a:t> Futures are highly leveraged. Small moves have large P&amp;L impacts.</a:t>
            </a:r>
          </a:p>
          <a:p>
            <a:r>
              <a:rPr lang="en-GB" b="1" dirty="0"/>
              <a:t>DV01 Management:</a:t>
            </a:r>
            <a:r>
              <a:rPr lang="en-GB" dirty="0"/>
              <a:t> Always know your portfolio's net DV01. Hedge if beyond your mandate.</a:t>
            </a:r>
          </a:p>
          <a:p>
            <a:r>
              <a:rPr lang="en-GB" b="1" dirty="0"/>
              <a:t>Liquidity:</a:t>
            </a:r>
            <a:r>
              <a:rPr lang="en-GB" dirty="0"/>
              <a:t> Stick to the most liquid contract months (front months).</a:t>
            </a:r>
          </a:p>
          <a:p>
            <a:r>
              <a:rPr lang="en-GB" b="1" dirty="0"/>
              <a:t>Macro Data Alignment:</a:t>
            </a:r>
            <a:r>
              <a:rPr lang="en-GB" dirty="0"/>
              <a:t> Align your strategy view with the fundamental data calendar (CPI, NFP, ECB/Fed meetings).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Conclusion &amp; Key 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GB" b="1" dirty="0"/>
              <a:t>The Benchmark Shift is Complete:</a:t>
            </a:r>
            <a:r>
              <a:rPr lang="en-GB" dirty="0"/>
              <a:t> SOFR and €STR are the new, robust foundations for USD and EUR markets.</a:t>
            </a:r>
          </a:p>
          <a:p>
            <a:r>
              <a:rPr lang="en-GB" b="1" dirty="0"/>
              <a:t>Futures Are Strategic Tools:</a:t>
            </a:r>
            <a:r>
              <a:rPr lang="en-GB" dirty="0"/>
              <a:t> SOFR/€STR futures provide efficient, leveraged exposure to short-term rate expectations.</a:t>
            </a:r>
          </a:p>
          <a:p>
            <a:r>
              <a:rPr lang="en-GB" b="1" dirty="0"/>
              <a:t>Master the Mechanics:</a:t>
            </a:r>
            <a:r>
              <a:rPr lang="en-GB" dirty="0"/>
              <a:t> Understanding Pricing, </a:t>
            </a:r>
            <a:r>
              <a:rPr lang="en-GB" b="1" dirty="0"/>
              <a:t>DV01</a:t>
            </a:r>
            <a:r>
              <a:rPr lang="en-GB" dirty="0"/>
              <a:t>, and </a:t>
            </a:r>
            <a:r>
              <a:rPr lang="en-GB" b="1" dirty="0"/>
              <a:t>SPAN Margining</a:t>
            </a:r>
            <a:r>
              <a:rPr lang="en-GB" dirty="0"/>
              <a:t> is essential for execution and risk control.</a:t>
            </a:r>
          </a:p>
          <a:p>
            <a:r>
              <a:rPr lang="en-GB" b="1" dirty="0"/>
              <a:t>Strategies Follow Outlook:</a:t>
            </a:r>
            <a:r>
              <a:rPr lang="en-GB" dirty="0"/>
              <a:t> Directional trades, curve trades, and basis trades translate macro views into actionable P&amp;L.</a:t>
            </a:r>
          </a:p>
          <a:p>
            <a:r>
              <a:rPr lang="en-GB" b="1" dirty="0"/>
              <a:t>Outlook is Data-Dependent:</a:t>
            </a:r>
            <a:r>
              <a:rPr lang="en-GB" dirty="0"/>
              <a:t> The "higher-for-longer" narrative will be tested by inflation and employment data in 2024, creating trading opportunities.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b="1" dirty="0"/>
              <a:t>Appendix 1: Key Terminology Glossary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GB" b="1" dirty="0"/>
              <a:t>RFR (Risk-Free Rate):</a:t>
            </a:r>
            <a:r>
              <a:rPr lang="en-GB" dirty="0"/>
              <a:t> SOFR, €STR. Based on deep, secured or risk-free markets.</a:t>
            </a:r>
          </a:p>
          <a:p>
            <a:r>
              <a:rPr lang="en-GB" b="1" dirty="0"/>
              <a:t>IBOR (Interbank Offered Rate):</a:t>
            </a:r>
            <a:r>
              <a:rPr lang="en-GB" dirty="0"/>
              <a:t> LIBOR (legacy), EURIBOR (reformed). Forward-looking, term-based, with credit risk.</a:t>
            </a:r>
          </a:p>
          <a:p>
            <a:r>
              <a:rPr lang="en-GB" b="1" dirty="0"/>
              <a:t>Compounded Rate:</a:t>
            </a:r>
            <a:r>
              <a:rPr lang="en-GB" dirty="0"/>
              <a:t> The method for calculating the accrual of an overnight rate over a term.</a:t>
            </a:r>
          </a:p>
          <a:p>
            <a:r>
              <a:rPr lang="en-GB" b="1" dirty="0"/>
              <a:t>Central Clearing Counterparty (CCP):</a:t>
            </a:r>
            <a:r>
              <a:rPr lang="en-GB" dirty="0"/>
              <a:t> Entity that becomes the buyer to every seller and seller to every buyer, managing counterparty risk.</a:t>
            </a:r>
          </a:p>
          <a:p>
            <a:r>
              <a:rPr lang="en-GB" b="1" dirty="0"/>
              <a:t>Convexity:</a:t>
            </a:r>
            <a:r>
              <a:rPr lang="en-GB" dirty="0"/>
              <a:t> The second-order sensitivity of price to yield changes. Important for large rate moves.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Appendix 2: Useful Resources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b="1" dirty="0"/>
              <a:t>SOFR &amp; Fed Data:</a:t>
            </a:r>
            <a:r>
              <a:rPr lang="en-GB" dirty="0"/>
              <a:t> Federal Reserve Bank of New York Website</a:t>
            </a:r>
          </a:p>
          <a:p>
            <a:r>
              <a:rPr lang="en-GB" b="1" dirty="0"/>
              <a:t>€STR &amp; ECB Info:</a:t>
            </a:r>
            <a:r>
              <a:rPr lang="en-GB" dirty="0"/>
              <a:t> European Central Bank Website</a:t>
            </a:r>
          </a:p>
          <a:p>
            <a:r>
              <a:rPr lang="en-GB" b="1" dirty="0"/>
              <a:t>CME SOFR Resources:</a:t>
            </a:r>
            <a:r>
              <a:rPr lang="en-GB" dirty="0"/>
              <a:t> CME Group SOFR </a:t>
            </a:r>
            <a:r>
              <a:rPr lang="en-GB" dirty="0" err="1"/>
              <a:t>Center</a:t>
            </a:r>
            <a:endParaRPr lang="en-GB" dirty="0"/>
          </a:p>
          <a:p>
            <a:r>
              <a:rPr lang="en-GB" b="1" dirty="0"/>
              <a:t>EUREX €STR Info:</a:t>
            </a:r>
            <a:r>
              <a:rPr lang="en-GB" dirty="0"/>
              <a:t> EUREX €STR Derivatives</a:t>
            </a:r>
          </a:p>
          <a:p>
            <a:r>
              <a:rPr lang="en-GB" b="1" dirty="0"/>
              <a:t>ISDA Benchmark Pages:</a:t>
            </a:r>
            <a:r>
              <a:rPr lang="en-GB" dirty="0"/>
              <a:t> </a:t>
            </a:r>
            <a:r>
              <a:rPr lang="en-GB" dirty="0">
                <a:hlinkClick r:id="rId2"/>
              </a:rPr>
              <a:t>www.isda.org</a:t>
            </a:r>
            <a:endParaRPr lang="en-GB" dirty="0"/>
          </a:p>
          <a:p>
            <a:pPr marL="0" indent="0">
              <a:buNone/>
            </a:pPr>
            <a:endParaRPr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Thank You</a:t>
            </a:r>
            <a:r>
              <a:rPr lang="en-US" dirty="0"/>
              <a:t>!</a:t>
            </a:r>
            <a:endParaRPr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293A7DB-20BE-F040-7F5C-B5B954B08A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15</TotalTime>
  <Words>1836</Words>
  <Application>Microsoft Macintosh PowerPoint</Application>
  <PresentationFormat>On-screen Show (4:3)</PresentationFormat>
  <Paragraphs>141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6" baseType="lpstr">
      <vt:lpstr>quote-cjk-patch</vt:lpstr>
      <vt:lpstr>Arial</vt:lpstr>
      <vt:lpstr>Century Gothic</vt:lpstr>
      <vt:lpstr>Wingdings 3</vt:lpstr>
      <vt:lpstr>Wisp</vt:lpstr>
      <vt:lpstr>Interest Rate Benchmarks &amp; Derivatives</vt:lpstr>
      <vt:lpstr>Content</vt:lpstr>
      <vt:lpstr>The Old vs. The New: Why Benchmarks Matter</vt:lpstr>
      <vt:lpstr>PART 1: BENCHMARK RATES</vt:lpstr>
      <vt:lpstr>Secured Overnight Financing Rate (SOFR)</vt:lpstr>
      <vt:lpstr>Fed Funds vs. SOFR: A Critical Comparison</vt:lpstr>
      <vt:lpstr>The EUR Landscape: EURIBOR &amp; €STR</vt:lpstr>
      <vt:lpstr>PART 2: CORE DERIVATIVES &amp; MECHANICS</vt:lpstr>
      <vt:lpstr>SOFR Futures: Pricing &amp; Settlement</vt:lpstr>
      <vt:lpstr>EUR Counterpart: €STR Futures (EUREX) &amp; EURIBOR Futures</vt:lpstr>
      <vt:lpstr>Margin Requirements: SPAN &amp; VaR-Based Models</vt:lpstr>
      <vt:lpstr>The Universal Risk Metric: DV01</vt:lpstr>
      <vt:lpstr>PART 3: MARKET OUTLOOK &amp; TRADING STRATEGIES</vt:lpstr>
      <vt:lpstr>Trading Strategy 1: Expressing a Directional View</vt:lpstr>
      <vt:lpstr>Trading Strategy 2: Curve Flatteners &amp; Steepeners</vt:lpstr>
      <vt:lpstr>Trading Strategy 3: Basis Trades (SOFR vs. Fed Funds)</vt:lpstr>
      <vt:lpstr>Risk Management Reminders</vt:lpstr>
      <vt:lpstr>Conclusion &amp; Key Takeaways</vt:lpstr>
      <vt:lpstr>Appendix 1: Key Terminology Glossary</vt:lpstr>
      <vt:lpstr>Appendix 2: Useful Resources</vt:lpstr>
      <vt:lpstr>Thank You!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Heiley Wong</cp:lastModifiedBy>
  <cp:revision>2</cp:revision>
  <dcterms:created xsi:type="dcterms:W3CDTF">2013-01-27T09:14:16Z</dcterms:created>
  <dcterms:modified xsi:type="dcterms:W3CDTF">2026-02-05T14:50:04Z</dcterms:modified>
  <cp:category/>
</cp:coreProperties>
</file>